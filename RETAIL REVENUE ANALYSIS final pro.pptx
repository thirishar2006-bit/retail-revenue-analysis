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notesMasterIdLst>
    <p:notesMasterId r:id="rId14"/>
  </p:notesMasterIdLst>
  <p:sldIdLst>
    <p:sldId id="256" r:id="rId2"/>
    <p:sldId id="257" r:id="rId3"/>
    <p:sldId id="258" r:id="rId4"/>
    <p:sldId id="265" r:id="rId5"/>
    <p:sldId id="259" r:id="rId6"/>
    <p:sldId id="260" r:id="rId7"/>
    <p:sldId id="261" r:id="rId8"/>
    <p:sldId id="262" r:id="rId9"/>
    <p:sldId id="263" r:id="rId10"/>
    <p:sldId id="267" r:id="rId11"/>
    <p:sldId id="264"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3" d="100"/>
          <a:sy n="63" d="100"/>
        </p:scale>
        <p:origin x="10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irisha r" userId="6d0b5f69969c8a4c" providerId="LiveId" clId="{7165BEFC-6165-47FA-8757-D851393C1F71}"/>
    <pc:docChg chg="undo custSel addSld modSld sldOrd modMainMaster">
      <pc:chgData name="thirisha r" userId="6d0b5f69969c8a4c" providerId="LiveId" clId="{7165BEFC-6165-47FA-8757-D851393C1F71}" dt="2026-09-19T09:09:44.953" v="354" actId="14100"/>
      <pc:docMkLst>
        <pc:docMk/>
      </pc:docMkLst>
      <pc:sldChg chg="modSp mod">
        <pc:chgData name="thirisha r" userId="6d0b5f69969c8a4c" providerId="LiveId" clId="{7165BEFC-6165-47FA-8757-D851393C1F71}" dt="2026-09-19T07:26:46.001" v="166" actId="14100"/>
        <pc:sldMkLst>
          <pc:docMk/>
          <pc:sldMk cId="1631503258" sldId="256"/>
        </pc:sldMkLst>
        <pc:spChg chg="mod">
          <ac:chgData name="thirisha r" userId="6d0b5f69969c8a4c" providerId="LiveId" clId="{7165BEFC-6165-47FA-8757-D851393C1F71}" dt="2026-09-19T07:26:34.749" v="161" actId="27636"/>
          <ac:spMkLst>
            <pc:docMk/>
            <pc:sldMk cId="1631503258" sldId="256"/>
            <ac:spMk id="2" creationId="{6B8B3E22-A8AD-EBFF-029E-58BB47E97BA7}"/>
          </ac:spMkLst>
        </pc:spChg>
        <pc:spChg chg="mod">
          <ac:chgData name="thirisha r" userId="6d0b5f69969c8a4c" providerId="LiveId" clId="{7165BEFC-6165-47FA-8757-D851393C1F71}" dt="2026-09-19T07:26:46.001" v="166" actId="14100"/>
          <ac:spMkLst>
            <pc:docMk/>
            <pc:sldMk cId="1631503258" sldId="256"/>
            <ac:spMk id="3" creationId="{4F2CBF19-5CA2-62E1-92CB-6C84702A8733}"/>
          </ac:spMkLst>
        </pc:spChg>
      </pc:sldChg>
      <pc:sldChg chg="modSp mod">
        <pc:chgData name="thirisha r" userId="6d0b5f69969c8a4c" providerId="LiveId" clId="{7165BEFC-6165-47FA-8757-D851393C1F71}" dt="2026-09-19T07:21:01.285" v="117" actId="255"/>
        <pc:sldMkLst>
          <pc:docMk/>
          <pc:sldMk cId="633218524" sldId="257"/>
        </pc:sldMkLst>
        <pc:spChg chg="mod">
          <ac:chgData name="thirisha r" userId="6d0b5f69969c8a4c" providerId="LiveId" clId="{7165BEFC-6165-47FA-8757-D851393C1F71}" dt="2026-09-19T07:20:36.938" v="108" actId="27636"/>
          <ac:spMkLst>
            <pc:docMk/>
            <pc:sldMk cId="633218524" sldId="257"/>
            <ac:spMk id="2" creationId="{166FC7EC-CEE0-41D4-E55F-F4CCAA776DD1}"/>
          </ac:spMkLst>
        </pc:spChg>
        <pc:spChg chg="mod">
          <ac:chgData name="thirisha r" userId="6d0b5f69969c8a4c" providerId="LiveId" clId="{7165BEFC-6165-47FA-8757-D851393C1F71}" dt="2026-09-19T07:21:01.285" v="117" actId="255"/>
          <ac:spMkLst>
            <pc:docMk/>
            <pc:sldMk cId="633218524" sldId="257"/>
            <ac:spMk id="3" creationId="{186202AA-4A8F-08EE-8C15-E34CFCFAA618}"/>
          </ac:spMkLst>
        </pc:spChg>
      </pc:sldChg>
      <pc:sldChg chg="modSp mod">
        <pc:chgData name="thirisha r" userId="6d0b5f69969c8a4c" providerId="LiveId" clId="{7165BEFC-6165-47FA-8757-D851393C1F71}" dt="2026-09-19T07:27:20.817" v="169" actId="255"/>
        <pc:sldMkLst>
          <pc:docMk/>
          <pc:sldMk cId="2407258648" sldId="258"/>
        </pc:sldMkLst>
        <pc:spChg chg="mod">
          <ac:chgData name="thirisha r" userId="6d0b5f69969c8a4c" providerId="LiveId" clId="{7165BEFC-6165-47FA-8757-D851393C1F71}" dt="2026-09-19T07:20:36.957" v="109" actId="27636"/>
          <ac:spMkLst>
            <pc:docMk/>
            <pc:sldMk cId="2407258648" sldId="258"/>
            <ac:spMk id="2" creationId="{26732F2E-53C9-6348-1B37-A2121AE42DE3}"/>
          </ac:spMkLst>
        </pc:spChg>
        <pc:spChg chg="mod">
          <ac:chgData name="thirisha r" userId="6d0b5f69969c8a4c" providerId="LiveId" clId="{7165BEFC-6165-47FA-8757-D851393C1F71}" dt="2026-09-19T07:27:20.817" v="169" actId="255"/>
          <ac:spMkLst>
            <pc:docMk/>
            <pc:sldMk cId="2407258648" sldId="258"/>
            <ac:spMk id="3" creationId="{F76C6E02-508E-A96E-3A64-49E209B6C00B}"/>
          </ac:spMkLst>
        </pc:spChg>
      </pc:sldChg>
      <pc:sldChg chg="modSp mod">
        <pc:chgData name="thirisha r" userId="6d0b5f69969c8a4c" providerId="LiveId" clId="{7165BEFC-6165-47FA-8757-D851393C1F71}" dt="2026-09-19T08:06:41.881" v="253" actId="2711"/>
        <pc:sldMkLst>
          <pc:docMk/>
          <pc:sldMk cId="553391281" sldId="259"/>
        </pc:sldMkLst>
        <pc:spChg chg="mod">
          <ac:chgData name="thirisha r" userId="6d0b5f69969c8a4c" providerId="LiveId" clId="{7165BEFC-6165-47FA-8757-D851393C1F71}" dt="2026-09-19T07:20:36.959" v="110" actId="27636"/>
          <ac:spMkLst>
            <pc:docMk/>
            <pc:sldMk cId="553391281" sldId="259"/>
            <ac:spMk id="2" creationId="{C415A24E-008A-476F-E2E5-71DB2B658564}"/>
          </ac:spMkLst>
        </pc:spChg>
        <pc:graphicFrameChg chg="modGraphic">
          <ac:chgData name="thirisha r" userId="6d0b5f69969c8a4c" providerId="LiveId" clId="{7165BEFC-6165-47FA-8757-D851393C1F71}" dt="2026-09-19T08:06:41.881" v="253" actId="2711"/>
          <ac:graphicFrameMkLst>
            <pc:docMk/>
            <pc:sldMk cId="553391281" sldId="259"/>
            <ac:graphicFrameMk id="4" creationId="{C9309DDF-02BF-FD98-4017-58B3B7517565}"/>
          </ac:graphicFrameMkLst>
        </pc:graphicFrameChg>
      </pc:sldChg>
      <pc:sldChg chg="modSp mod">
        <pc:chgData name="thirisha r" userId="6d0b5f69969c8a4c" providerId="LiveId" clId="{7165BEFC-6165-47FA-8757-D851393C1F71}" dt="2026-09-19T07:29:16.768" v="175" actId="255"/>
        <pc:sldMkLst>
          <pc:docMk/>
          <pc:sldMk cId="338761192" sldId="260"/>
        </pc:sldMkLst>
        <pc:spChg chg="mod">
          <ac:chgData name="thirisha r" userId="6d0b5f69969c8a4c" providerId="LiveId" clId="{7165BEFC-6165-47FA-8757-D851393C1F71}" dt="2026-09-19T07:21:48.698" v="125" actId="122"/>
          <ac:spMkLst>
            <pc:docMk/>
            <pc:sldMk cId="338761192" sldId="260"/>
            <ac:spMk id="2" creationId="{1C83D832-F5AD-04BB-9E43-24BCA14EBFA0}"/>
          </ac:spMkLst>
        </pc:spChg>
        <pc:spChg chg="mod">
          <ac:chgData name="thirisha r" userId="6d0b5f69969c8a4c" providerId="LiveId" clId="{7165BEFC-6165-47FA-8757-D851393C1F71}" dt="2026-09-19T07:29:16.768" v="175" actId="255"/>
          <ac:spMkLst>
            <pc:docMk/>
            <pc:sldMk cId="338761192" sldId="260"/>
            <ac:spMk id="3" creationId="{C9DDD297-26CA-5AC4-874B-F74FF5A38BB8}"/>
          </ac:spMkLst>
        </pc:spChg>
      </pc:sldChg>
      <pc:sldChg chg="modSp mod">
        <pc:chgData name="thirisha r" userId="6d0b5f69969c8a4c" providerId="LiveId" clId="{7165BEFC-6165-47FA-8757-D851393C1F71}" dt="2026-09-19T07:29:00.370" v="174" actId="12"/>
        <pc:sldMkLst>
          <pc:docMk/>
          <pc:sldMk cId="1903102900" sldId="261"/>
        </pc:sldMkLst>
        <pc:spChg chg="mod">
          <ac:chgData name="thirisha r" userId="6d0b5f69969c8a4c" providerId="LiveId" clId="{7165BEFC-6165-47FA-8757-D851393C1F71}" dt="2026-09-19T07:22:14.646" v="128" actId="14100"/>
          <ac:spMkLst>
            <pc:docMk/>
            <pc:sldMk cId="1903102900" sldId="261"/>
            <ac:spMk id="2" creationId="{FF098C1A-82AB-DAF8-CF31-EDAC7F5927A1}"/>
          </ac:spMkLst>
        </pc:spChg>
        <pc:spChg chg="mod">
          <ac:chgData name="thirisha r" userId="6d0b5f69969c8a4c" providerId="LiveId" clId="{7165BEFC-6165-47FA-8757-D851393C1F71}" dt="2026-09-19T07:29:00.370" v="174" actId="12"/>
          <ac:spMkLst>
            <pc:docMk/>
            <pc:sldMk cId="1903102900" sldId="261"/>
            <ac:spMk id="3" creationId="{C85F6440-B2FC-169B-6501-2461900DBEE3}"/>
          </ac:spMkLst>
        </pc:spChg>
      </pc:sldChg>
      <pc:sldChg chg="addSp delSp modSp mod">
        <pc:chgData name="thirisha r" userId="6d0b5f69969c8a4c" providerId="LiveId" clId="{7165BEFC-6165-47FA-8757-D851393C1F71}" dt="2026-09-19T09:07:07.478" v="339" actId="12"/>
        <pc:sldMkLst>
          <pc:docMk/>
          <pc:sldMk cId="1718393212" sldId="262"/>
        </pc:sldMkLst>
        <pc:spChg chg="mod">
          <ac:chgData name="thirisha r" userId="6d0b5f69969c8a4c" providerId="LiveId" clId="{7165BEFC-6165-47FA-8757-D851393C1F71}" dt="2026-09-19T07:22:45.478" v="131" actId="14100"/>
          <ac:spMkLst>
            <pc:docMk/>
            <pc:sldMk cId="1718393212" sldId="262"/>
            <ac:spMk id="2" creationId="{FBD0A8FA-1671-CA0B-1380-5F50FD2CCF10}"/>
          </ac:spMkLst>
        </pc:spChg>
        <pc:spChg chg="mod">
          <ac:chgData name="thirisha r" userId="6d0b5f69969c8a4c" providerId="LiveId" clId="{7165BEFC-6165-47FA-8757-D851393C1F71}" dt="2026-09-19T09:07:07.478" v="339" actId="12"/>
          <ac:spMkLst>
            <pc:docMk/>
            <pc:sldMk cId="1718393212" sldId="262"/>
            <ac:spMk id="3" creationId="{6E5DF16D-B75C-23DE-8EF8-F2F93416DE58}"/>
          </ac:spMkLst>
        </pc:spChg>
        <pc:spChg chg="add del mod">
          <ac:chgData name="thirisha r" userId="6d0b5f69969c8a4c" providerId="LiveId" clId="{7165BEFC-6165-47FA-8757-D851393C1F71}" dt="2026-09-19T07:23:06.771" v="150"/>
          <ac:spMkLst>
            <pc:docMk/>
            <pc:sldMk cId="1718393212" sldId="262"/>
            <ac:spMk id="4" creationId="{0C7F2B8F-4DC3-91B1-845E-A5FCED7E9D34}"/>
          </ac:spMkLst>
        </pc:spChg>
        <pc:spChg chg="add del mod">
          <ac:chgData name="thirisha r" userId="6d0b5f69969c8a4c" providerId="LiveId" clId="{7165BEFC-6165-47FA-8757-D851393C1F71}" dt="2026-09-19T09:06:53.722" v="338"/>
          <ac:spMkLst>
            <pc:docMk/>
            <pc:sldMk cId="1718393212" sldId="262"/>
            <ac:spMk id="4" creationId="{B1A119BD-2D41-7CB6-6F06-6460F0E30406}"/>
          </ac:spMkLst>
        </pc:spChg>
      </pc:sldChg>
      <pc:sldChg chg="delSp modSp mod">
        <pc:chgData name="thirisha r" userId="6d0b5f69969c8a4c" providerId="LiveId" clId="{7165BEFC-6165-47FA-8757-D851393C1F71}" dt="2026-09-19T09:09:44.953" v="354" actId="14100"/>
        <pc:sldMkLst>
          <pc:docMk/>
          <pc:sldMk cId="46213117" sldId="263"/>
        </pc:sldMkLst>
        <pc:spChg chg="mod">
          <ac:chgData name="thirisha r" userId="6d0b5f69969c8a4c" providerId="LiveId" clId="{7165BEFC-6165-47FA-8757-D851393C1F71}" dt="2026-09-19T07:23:37.207" v="152" actId="255"/>
          <ac:spMkLst>
            <pc:docMk/>
            <pc:sldMk cId="46213117" sldId="263"/>
            <ac:spMk id="2" creationId="{3C786C14-B6F2-3070-7CD1-92FF36EE454E}"/>
          </ac:spMkLst>
        </pc:spChg>
        <pc:picChg chg="mod">
          <ac:chgData name="thirisha r" userId="6d0b5f69969c8a4c" providerId="LiveId" clId="{7165BEFC-6165-47FA-8757-D851393C1F71}" dt="2026-09-19T09:09:44.953" v="354" actId="14100"/>
          <ac:picMkLst>
            <pc:docMk/>
            <pc:sldMk cId="46213117" sldId="263"/>
            <ac:picMk id="5" creationId="{A81C0DED-FA2F-6387-1AE0-B965B744D4F5}"/>
          </ac:picMkLst>
        </pc:picChg>
        <pc:picChg chg="del mod">
          <ac:chgData name="thirisha r" userId="6d0b5f69969c8a4c" providerId="LiveId" clId="{7165BEFC-6165-47FA-8757-D851393C1F71}" dt="2026-09-19T09:09:16.246" v="345" actId="21"/>
          <ac:picMkLst>
            <pc:docMk/>
            <pc:sldMk cId="46213117" sldId="263"/>
            <ac:picMk id="7" creationId="{31A702FA-1C53-3E5C-D67C-7F8AEAC7247C}"/>
          </ac:picMkLst>
        </pc:picChg>
      </pc:sldChg>
      <pc:sldChg chg="modSp mod">
        <pc:chgData name="thirisha r" userId="6d0b5f69969c8a4c" providerId="LiveId" clId="{7165BEFC-6165-47FA-8757-D851393C1F71}" dt="2026-09-19T07:52:52.718" v="209" actId="12"/>
        <pc:sldMkLst>
          <pc:docMk/>
          <pc:sldMk cId="89938923" sldId="264"/>
        </pc:sldMkLst>
        <pc:spChg chg="mod">
          <ac:chgData name="thirisha r" userId="6d0b5f69969c8a4c" providerId="LiveId" clId="{7165BEFC-6165-47FA-8757-D851393C1F71}" dt="2026-09-19T07:23:53.787" v="154" actId="14100"/>
          <ac:spMkLst>
            <pc:docMk/>
            <pc:sldMk cId="89938923" sldId="264"/>
            <ac:spMk id="2" creationId="{B1743B15-A31B-CC37-936A-37572FA05AAA}"/>
          </ac:spMkLst>
        </pc:spChg>
        <pc:spChg chg="mod">
          <ac:chgData name="thirisha r" userId="6d0b5f69969c8a4c" providerId="LiveId" clId="{7165BEFC-6165-47FA-8757-D851393C1F71}" dt="2026-09-19T07:52:52.718" v="209" actId="12"/>
          <ac:spMkLst>
            <pc:docMk/>
            <pc:sldMk cId="89938923" sldId="264"/>
            <ac:spMk id="3" creationId="{EF2B61CD-C8EF-7787-576E-666453A47278}"/>
          </ac:spMkLst>
        </pc:spChg>
      </pc:sldChg>
      <pc:sldChg chg="modSp new mod ord">
        <pc:chgData name="thirisha r" userId="6d0b5f69969c8a4c" providerId="LiveId" clId="{7165BEFC-6165-47FA-8757-D851393C1F71}" dt="2026-09-19T08:59:57.032" v="259"/>
        <pc:sldMkLst>
          <pc:docMk/>
          <pc:sldMk cId="1840018267" sldId="265"/>
        </pc:sldMkLst>
        <pc:spChg chg="mod">
          <ac:chgData name="thirisha r" userId="6d0b5f69969c8a4c" providerId="LiveId" clId="{7165BEFC-6165-47FA-8757-D851393C1F71}" dt="2026-09-19T07:33:38.507" v="198" actId="255"/>
          <ac:spMkLst>
            <pc:docMk/>
            <pc:sldMk cId="1840018267" sldId="265"/>
            <ac:spMk id="2" creationId="{A9F4A85F-9F0E-3590-EB7C-18A2EE37FD46}"/>
          </ac:spMkLst>
        </pc:spChg>
        <pc:spChg chg="mod">
          <ac:chgData name="thirisha r" userId="6d0b5f69969c8a4c" providerId="LiveId" clId="{7165BEFC-6165-47FA-8757-D851393C1F71}" dt="2026-09-19T08:09:26.859" v="257" actId="255"/>
          <ac:spMkLst>
            <pc:docMk/>
            <pc:sldMk cId="1840018267" sldId="265"/>
            <ac:spMk id="3" creationId="{97D74271-4C7F-B291-2745-A8DD79CE22A9}"/>
          </ac:spMkLst>
        </pc:spChg>
      </pc:sldChg>
      <pc:sldChg chg="modSp new mod">
        <pc:chgData name="thirisha r" userId="6d0b5f69969c8a4c" providerId="LiveId" clId="{7165BEFC-6165-47FA-8757-D851393C1F71}" dt="2026-09-19T08:04:41.220" v="252" actId="12"/>
        <pc:sldMkLst>
          <pc:docMk/>
          <pc:sldMk cId="3511889905" sldId="266"/>
        </pc:sldMkLst>
        <pc:spChg chg="mod">
          <ac:chgData name="thirisha r" userId="6d0b5f69969c8a4c" providerId="LiveId" clId="{7165BEFC-6165-47FA-8757-D851393C1F71}" dt="2026-09-19T08:03:50.209" v="238" actId="2711"/>
          <ac:spMkLst>
            <pc:docMk/>
            <pc:sldMk cId="3511889905" sldId="266"/>
            <ac:spMk id="2" creationId="{1E93C218-2815-05E6-7D99-600CCBEE4E08}"/>
          </ac:spMkLst>
        </pc:spChg>
        <pc:spChg chg="mod">
          <ac:chgData name="thirisha r" userId="6d0b5f69969c8a4c" providerId="LiveId" clId="{7165BEFC-6165-47FA-8757-D851393C1F71}" dt="2026-09-19T08:04:41.220" v="252" actId="12"/>
          <ac:spMkLst>
            <pc:docMk/>
            <pc:sldMk cId="3511889905" sldId="266"/>
            <ac:spMk id="3" creationId="{433ED601-7FE5-089F-3C63-7B20254F0CAD}"/>
          </ac:spMkLst>
        </pc:spChg>
      </pc:sldChg>
      <pc:sldChg chg="addSp delSp modSp new mod">
        <pc:chgData name="thirisha r" userId="6d0b5f69969c8a4c" providerId="LiveId" clId="{7165BEFC-6165-47FA-8757-D851393C1F71}" dt="2026-09-19T09:09:28.959" v="350" actId="1076"/>
        <pc:sldMkLst>
          <pc:docMk/>
          <pc:sldMk cId="3642325341" sldId="267"/>
        </pc:sldMkLst>
        <pc:spChg chg="del">
          <ac:chgData name="thirisha r" userId="6d0b5f69969c8a4c" providerId="LiveId" clId="{7165BEFC-6165-47FA-8757-D851393C1F71}" dt="2026-09-19T09:09:20.296" v="347" actId="22"/>
          <ac:spMkLst>
            <pc:docMk/>
            <pc:sldMk cId="3642325341" sldId="267"/>
            <ac:spMk id="3" creationId="{D76764C2-F6E3-75E1-325B-9170FA7EE83F}"/>
          </ac:spMkLst>
        </pc:spChg>
        <pc:picChg chg="add mod">
          <ac:chgData name="thirisha r" userId="6d0b5f69969c8a4c" providerId="LiveId" clId="{7165BEFC-6165-47FA-8757-D851393C1F71}" dt="2026-09-19T09:09:28.959" v="350" actId="1076"/>
          <ac:picMkLst>
            <pc:docMk/>
            <pc:sldMk cId="3642325341" sldId="267"/>
            <ac:picMk id="5" creationId="{45583F64-FFE8-AD65-115B-F194836C8916}"/>
          </ac:picMkLst>
        </pc:picChg>
      </pc:sldChg>
      <pc:sldMasterChg chg="modSldLayout">
        <pc:chgData name="thirisha r" userId="6d0b5f69969c8a4c" providerId="LiveId" clId="{7165BEFC-6165-47FA-8757-D851393C1F71}" dt="2026-09-19T07:20:32.539" v="98"/>
        <pc:sldMasterMkLst>
          <pc:docMk/>
          <pc:sldMasterMk cId="1280168708" sldId="2147483730"/>
        </pc:sldMasterMkLst>
        <pc:sldLayoutChg chg="delSp">
          <pc:chgData name="thirisha r" userId="6d0b5f69969c8a4c" providerId="LiveId" clId="{7165BEFC-6165-47FA-8757-D851393C1F71}" dt="2026-09-19T07:20:32.539" v="98"/>
          <pc:sldLayoutMkLst>
            <pc:docMk/>
            <pc:sldMasterMk cId="1280168708" sldId="2147483730"/>
            <pc:sldLayoutMk cId="1117053724" sldId="2147483758"/>
          </pc:sldLayoutMkLst>
          <pc:spChg chg="del">
            <ac:chgData name="thirisha r" userId="6d0b5f69969c8a4c" providerId="LiveId" clId="{7165BEFC-6165-47FA-8757-D851393C1F71}" dt="2026-09-19T07:20:32.539" v="98"/>
            <ac:spMkLst>
              <pc:docMk/>
              <pc:sldMasterMk cId="1280168708" sldId="2147483730"/>
              <pc:sldLayoutMk cId="1117053724" sldId="2147483758"/>
              <ac:spMk id="7" creationId="{00000000-0000-0000-0000-000000000000}"/>
            </ac:spMkLst>
          </pc:spChg>
          <pc:spChg chg="del">
            <ac:chgData name="thirisha r" userId="6d0b5f69969c8a4c" providerId="LiveId" clId="{7165BEFC-6165-47FA-8757-D851393C1F71}" dt="2026-09-19T07:20:32.539" v="98"/>
            <ac:spMkLst>
              <pc:docMk/>
              <pc:sldMasterMk cId="1280168708" sldId="2147483730"/>
              <pc:sldLayoutMk cId="1117053724" sldId="2147483758"/>
              <ac:spMk id="8" creationId="{00000000-0000-0000-0000-000000000000}"/>
            </ac:spMkLst>
          </pc:spChg>
        </pc:sldLayoutChg>
      </pc:sldMasterChg>
      <pc:sldMasterChg chg="modSldLayout">
        <pc:chgData name="thirisha r" userId="6d0b5f69969c8a4c" providerId="LiveId" clId="{7165BEFC-6165-47FA-8757-D851393C1F71}" dt="2026-09-18T20:23:27.603" v="62"/>
        <pc:sldMasterMkLst>
          <pc:docMk/>
          <pc:sldMasterMk cId="2354837507" sldId="2147483882"/>
        </pc:sldMasterMkLst>
        <pc:sldLayoutChg chg="addSp delSp">
          <pc:chgData name="thirisha r" userId="6d0b5f69969c8a4c" providerId="LiveId" clId="{7165BEFC-6165-47FA-8757-D851393C1F71}" dt="2026-09-18T20:23:27.603" v="62"/>
          <pc:sldLayoutMkLst>
            <pc:docMk/>
            <pc:sldMasterMk cId="2354837507" sldId="2147483882"/>
            <pc:sldLayoutMk cId="2116067602" sldId="2147483910"/>
          </pc:sldLayoutMkLst>
          <pc:spChg chg="add del">
            <ac:chgData name="thirisha r" userId="6d0b5f69969c8a4c" providerId="LiveId" clId="{7165BEFC-6165-47FA-8757-D851393C1F71}" dt="2026-09-18T20:23:27.603" v="62"/>
            <ac:spMkLst>
              <pc:docMk/>
              <pc:sldMasterMk cId="2354837507" sldId="2147483882"/>
              <pc:sldLayoutMk cId="2116067602" sldId="2147483910"/>
              <ac:spMk id="7" creationId="{00000000-0000-0000-0000-000000000000}"/>
            </ac:spMkLst>
          </pc:spChg>
          <pc:spChg chg="add del">
            <ac:chgData name="thirisha r" userId="6d0b5f69969c8a4c" providerId="LiveId" clId="{7165BEFC-6165-47FA-8757-D851393C1F71}" dt="2026-09-18T20:23:27.603" v="62"/>
            <ac:spMkLst>
              <pc:docMk/>
              <pc:sldMasterMk cId="2354837507" sldId="2147483882"/>
              <pc:sldLayoutMk cId="2116067602" sldId="2147483910"/>
              <ac:spMk id="8" creationId="{00000000-0000-0000-0000-000000000000}"/>
            </ac:spMkLst>
          </pc:spChg>
          <pc:spChg chg="add del">
            <ac:chgData name="thirisha r" userId="6d0b5f69969c8a4c" providerId="LiveId" clId="{7165BEFC-6165-47FA-8757-D851393C1F71}" dt="2026-09-18T20:23:27.603" v="62"/>
            <ac:spMkLst>
              <pc:docMk/>
              <pc:sldMasterMk cId="2354837507" sldId="2147483882"/>
              <pc:sldLayoutMk cId="2116067602" sldId="2147483910"/>
              <ac:spMk id="1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14C974-C2B7-4E82-8CE4-132B128F2841}" type="datetimeFigureOut">
              <a:rPr lang="en-IN" smtClean="0"/>
              <a:t>19-09-2026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8DA1C0-7508-4476-AA69-C383E3F912B4}" type="slidenum">
              <a:rPr lang="en-IN" smtClean="0"/>
              <a:t>‹#›</a:t>
            </a:fld>
            <a:endParaRPr lang="en-IN"/>
          </a:p>
        </p:txBody>
      </p:sp>
    </p:spTree>
    <p:extLst>
      <p:ext uri="{BB962C8B-B14F-4D97-AF65-F5344CB8AC3E}">
        <p14:creationId xmlns:p14="http://schemas.microsoft.com/office/powerpoint/2010/main" val="2402080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D8DA1C0-7508-4476-AA69-C383E3F912B4}" type="slidenum">
              <a:rPr lang="en-IN" smtClean="0"/>
              <a:t>12</a:t>
            </a:fld>
            <a:endParaRPr lang="en-IN"/>
          </a:p>
        </p:txBody>
      </p:sp>
    </p:spTree>
    <p:extLst>
      <p:ext uri="{BB962C8B-B14F-4D97-AF65-F5344CB8AC3E}">
        <p14:creationId xmlns:p14="http://schemas.microsoft.com/office/powerpoint/2010/main" val="14032920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9/19/2026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IN"/>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5B19445-3BE8-49F2-AFEE-5043D01BD742}" type="slidenum">
              <a:rPr lang="en-IN" smtClean="0"/>
              <a:t>‹#›</a:t>
            </a:fld>
            <a:endParaRPr lang="en-IN"/>
          </a:p>
        </p:txBody>
      </p:sp>
    </p:spTree>
    <p:extLst>
      <p:ext uri="{BB962C8B-B14F-4D97-AF65-F5344CB8AC3E}">
        <p14:creationId xmlns:p14="http://schemas.microsoft.com/office/powerpoint/2010/main" val="3355492700"/>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C6428AE-ED01-4B75-8ED8-0D2E89107E3E}" type="datetimeFigureOut">
              <a:rPr lang="en-IN" smtClean="0"/>
              <a:t>19-09-2026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531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9/19/2026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43499280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DC6428AE-ED01-4B75-8ED8-0D2E89107E3E}" type="datetimeFigureOut">
              <a:rPr lang="en-IN" smtClean="0"/>
              <a:t>19-09-2026</a:t>
            </a:fld>
            <a:endParaRPr lang="en-IN"/>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IN"/>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5B19445-3BE8-49F2-AFEE-5043D01BD742}" type="slidenum">
              <a:rPr lang="en-IN" smtClean="0"/>
              <a:t>‹#›</a:t>
            </a:fld>
            <a:endParaRPr lang="en-IN"/>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28955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9/19/2026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425796026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9/19/2026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2713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DC6428AE-ED01-4B75-8ED8-0D2E89107E3E}" type="datetimeFigureOut">
              <a:rPr lang="en-IN" smtClean="0"/>
              <a:t>19-09-2026</a:t>
            </a:fld>
            <a:endParaRPr lang="en-IN"/>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IN"/>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549059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DC6428AE-ED01-4B75-8ED8-0D2E89107E3E}" type="datetimeFigureOut">
              <a:rPr lang="en-IN" smtClean="0"/>
              <a:t>19-09-2026</a:t>
            </a:fld>
            <a:endParaRPr lang="en-IN"/>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8475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DC6428AE-ED01-4B75-8ED8-0D2E89107E3E}" type="datetimeFigureOut">
              <a:rPr lang="en-IN" smtClean="0"/>
              <a:t>19-09-2026</a:t>
            </a:fld>
            <a:endParaRPr lang="en-IN"/>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IN"/>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812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DC6428AE-ED01-4B75-8ED8-0D2E89107E3E}" type="datetimeFigureOut">
              <a:rPr lang="en-IN" smtClean="0"/>
              <a:t>19-09-2026</a:t>
            </a:fld>
            <a:endParaRPr lang="en-IN"/>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IN"/>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5B19445-3BE8-49F2-AFEE-5043D01BD742}"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597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DC6428AE-ED01-4B75-8ED8-0D2E89107E3E}" type="datetimeFigureOut">
              <a:rPr lang="en-IN" smtClean="0"/>
              <a:t>19-09-2026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5B19445-3BE8-49F2-AFEE-5043D01BD742}" type="slidenum">
              <a:rPr lang="en-IN" smtClean="0"/>
              <a:t>‹#›</a:t>
            </a:fld>
            <a:endParaRPr lang="en-IN"/>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213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DC6428AE-ED01-4B75-8ED8-0D2E89107E3E}" type="datetimeFigureOut">
              <a:rPr lang="en-IN" smtClean="0"/>
              <a:t>19-09-2026</a:t>
            </a:fld>
            <a:endParaRPr lang="en-IN"/>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IN"/>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5B19445-3BE8-49F2-AFEE-5043D01BD742}"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3377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C6428AE-ED01-4B75-8ED8-0D2E89107E3E}" type="datetimeFigureOut">
              <a:rPr lang="en-IN" smtClean="0"/>
              <a:t>19-09-2026</a:t>
            </a:fld>
            <a:endParaRPr lang="en-IN"/>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5B19445-3BE8-49F2-AFEE-5043D01BD742}"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4043221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DC6428AE-ED01-4B75-8ED8-0D2E89107E3E}" type="datetimeFigureOut">
              <a:rPr lang="en-IN" smtClean="0"/>
              <a:t>19-09-2026</a:t>
            </a:fld>
            <a:endParaRPr lang="en-IN"/>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IN"/>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5B19445-3BE8-49F2-AFEE-5043D01BD742}" type="slidenum">
              <a:rPr lang="en-IN" smtClean="0"/>
              <a:t>‹#›</a:t>
            </a:fld>
            <a:endParaRPr lang="en-IN"/>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2206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C6428AE-ED01-4B75-8ED8-0D2E89107E3E}" type="datetimeFigureOut">
              <a:rPr lang="en-IN" smtClean="0"/>
              <a:t>19-09-2026</a:t>
            </a:fld>
            <a:endParaRPr lang="en-IN"/>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IN"/>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5B19445-3BE8-49F2-AFEE-5043D01BD742}"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77801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DC6428AE-ED01-4B75-8ED8-0D2E89107E3E}" type="datetimeFigureOut">
              <a:rPr lang="en-IN" smtClean="0"/>
              <a:t>19-09-2026</a:t>
            </a:fld>
            <a:endParaRPr lang="en-IN"/>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IN"/>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5B19445-3BE8-49F2-AFEE-5043D01BD742}" type="slidenum">
              <a:rPr lang="en-IN" smtClean="0"/>
              <a:t>‹#›</a:t>
            </a:fld>
            <a:endParaRPr lang="en-IN"/>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5162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C6428AE-ED01-4B75-8ED8-0D2E89107E3E}" type="datetimeFigureOut">
              <a:rPr lang="en-IN" smtClean="0"/>
              <a:t>19-09-2026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75687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C6428AE-ED01-4B75-8ED8-0D2E89107E3E}" type="datetimeFigureOut">
              <a:rPr lang="en-IN" smtClean="0"/>
              <a:t>19-09-2026</a:t>
            </a:fld>
            <a:endParaRPr lang="en-IN"/>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IN"/>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57466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DC6428AE-ED01-4B75-8ED8-0D2E89107E3E}" type="datetimeFigureOut">
              <a:rPr lang="en-IN" smtClean="0"/>
              <a:t>19-09-2026</a:t>
            </a:fld>
            <a:endParaRPr lang="en-IN"/>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IN"/>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10750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DC6428AE-ED01-4B75-8ED8-0D2E89107E3E}" type="datetimeFigureOut">
              <a:rPr lang="en-IN" smtClean="0"/>
              <a:t>19-09-2026</a:t>
            </a:fld>
            <a:endParaRPr lang="en-IN"/>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IN"/>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5B19445-3BE8-49F2-AFEE-5043D01BD742}" type="slidenum">
              <a:rPr lang="en-IN" smtClean="0"/>
              <a:t>‹#›</a:t>
            </a:fld>
            <a:endParaRPr lang="en-IN"/>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13071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9/19/2026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5B19445-3BE8-49F2-AFEE-5043D01BD742}" type="slidenum">
              <a:rPr lang="en-IN" smtClean="0"/>
              <a:t>‹#›</a:t>
            </a:fld>
            <a:endParaRPr lang="en-IN"/>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72457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DC6428AE-ED01-4B75-8ED8-0D2E89107E3E}" type="datetimeFigureOut">
              <a:rPr lang="en-IN" smtClean="0"/>
              <a:t>19-09-2026</a:t>
            </a:fld>
            <a:endParaRPr lang="en-IN"/>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IN"/>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5B19445-3BE8-49F2-AFEE-5043D01BD742}" type="slidenum">
              <a:rPr lang="en-IN" smtClean="0"/>
              <a:t>‹#›</a:t>
            </a:fld>
            <a:endParaRPr lang="en-IN"/>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21648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DC6428AE-ED01-4B75-8ED8-0D2E89107E3E}" type="datetimeFigureOut">
              <a:rPr lang="en-IN" smtClean="0"/>
              <a:t>19-09-2026</a:t>
            </a:fld>
            <a:endParaRPr lang="en-IN"/>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IN"/>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5B19445-3BE8-49F2-AFEE-5043D01BD742}" type="slidenum">
              <a:rPr lang="en-IN" smtClean="0"/>
              <a:t>‹#›</a:t>
            </a:fld>
            <a:endParaRPr lang="en-IN"/>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56412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DC6428AE-ED01-4B75-8ED8-0D2E89107E3E}" type="datetimeFigureOut">
              <a:rPr lang="en-IN" smtClean="0"/>
              <a:t>19-09-2026</a:t>
            </a:fld>
            <a:endParaRPr lang="en-IN"/>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IN"/>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5B19445-3BE8-49F2-AFEE-5043D01BD742}" type="slidenum">
              <a:rPr lang="en-IN" smtClean="0"/>
              <a:t>‹#›</a:t>
            </a:fld>
            <a:endParaRPr lang="en-IN"/>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54592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DC6428AE-ED01-4B75-8ED8-0D2E89107E3E}" type="datetimeFigureOut">
              <a:rPr lang="en-IN" smtClean="0"/>
              <a:t>19-09-2026</a:t>
            </a:fld>
            <a:endParaRPr lang="en-IN"/>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IN"/>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5B19445-3BE8-49F2-AFEE-5043D01BD742}"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8696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C6428AE-ED01-4B75-8ED8-0D2E89107E3E}" type="datetimeFigureOut">
              <a:rPr lang="en-IN" smtClean="0"/>
              <a:t>19-09-2026</a:t>
            </a:fld>
            <a:endParaRPr lang="en-IN"/>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5B19445-3BE8-49F2-AFEE-5043D01BD742}" type="slidenum">
              <a:rPr lang="en-IN" smtClean="0"/>
              <a:t>‹#›</a:t>
            </a:fld>
            <a:endParaRPr lang="en-IN"/>
          </a:p>
        </p:txBody>
      </p:sp>
    </p:spTree>
    <p:extLst>
      <p:ext uri="{BB962C8B-B14F-4D97-AF65-F5344CB8AC3E}">
        <p14:creationId xmlns:p14="http://schemas.microsoft.com/office/powerpoint/2010/main" val="8389017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C6428AE-ED01-4B75-8ED8-0D2E89107E3E}" type="datetimeFigureOut">
              <a:rPr lang="en-IN" smtClean="0"/>
              <a:t>19-09-2026</a:t>
            </a:fld>
            <a:endParaRPr lang="en-IN"/>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5B19445-3BE8-49F2-AFEE-5043D01BD742}" type="slidenum">
              <a:rPr lang="en-IN" smtClean="0"/>
              <a:t>‹#›</a:t>
            </a:fld>
            <a:endParaRPr lang="en-IN"/>
          </a:p>
        </p:txBody>
      </p:sp>
    </p:spTree>
    <p:extLst>
      <p:ext uri="{BB962C8B-B14F-4D97-AF65-F5344CB8AC3E}">
        <p14:creationId xmlns:p14="http://schemas.microsoft.com/office/powerpoint/2010/main" val="14277795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6428AE-ED01-4B75-8ED8-0D2E89107E3E}" type="datetimeFigureOut">
              <a:rPr lang="en-IN" smtClean="0"/>
              <a:t>19-09-2026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B19445-3BE8-49F2-AFEE-5043D01BD742}" type="slidenum">
              <a:rPr lang="en-IN" smtClean="0"/>
              <a:t>‹#›</a:t>
            </a:fld>
            <a:endParaRPr lang="en-IN"/>
          </a:p>
        </p:txBody>
      </p:sp>
    </p:spTree>
    <p:extLst>
      <p:ext uri="{BB962C8B-B14F-4D97-AF65-F5344CB8AC3E}">
        <p14:creationId xmlns:p14="http://schemas.microsoft.com/office/powerpoint/2010/main" val="40933036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6428AE-ED01-4B75-8ED8-0D2E89107E3E}" type="datetimeFigureOut">
              <a:rPr lang="en-IN" smtClean="0"/>
              <a:t>19-09-2026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B19445-3BE8-49F2-AFEE-5043D01BD742}" type="slidenum">
              <a:rPr lang="en-IN" smtClean="0"/>
              <a:t>‹#›</a:t>
            </a:fld>
            <a:endParaRPr lang="en-IN"/>
          </a:p>
        </p:txBody>
      </p:sp>
    </p:spTree>
    <p:extLst>
      <p:ext uri="{BB962C8B-B14F-4D97-AF65-F5344CB8AC3E}">
        <p14:creationId xmlns:p14="http://schemas.microsoft.com/office/powerpoint/2010/main" val="2671488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DC6428AE-ED01-4B75-8ED8-0D2E89107E3E}" type="datetimeFigureOut">
              <a:rPr lang="en-IN" smtClean="0"/>
              <a:t>19-09-2026</a:t>
            </a:fld>
            <a:endParaRPr lang="en-IN"/>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5B19445-3BE8-49F2-AFEE-5043D01BD742}" type="slidenum">
              <a:rPr lang="en-IN" smtClean="0"/>
              <a:t>‹#›</a:t>
            </a:fld>
            <a:endParaRPr lang="en-IN"/>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5331"/>
      </p:ext>
    </p:extLst>
  </p:cSld>
  <p:clrMap bg1="dk1" tx1="lt1" bg2="dk2"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B3E22-A8AD-EBFF-029E-58BB47E97BA7}"/>
              </a:ext>
            </a:extLst>
          </p:cNvPr>
          <p:cNvSpPr>
            <a:spLocks noGrp="1"/>
          </p:cNvSpPr>
          <p:nvPr>
            <p:ph type="ctrTitle"/>
          </p:nvPr>
        </p:nvSpPr>
        <p:spPr>
          <a:xfrm>
            <a:off x="1069848" y="1298448"/>
            <a:ext cx="9445752" cy="1825752"/>
          </a:xfrm>
        </p:spPr>
        <p:txBody>
          <a:bodyPr>
            <a:normAutofit/>
          </a:bodyPr>
          <a:lstStyle/>
          <a:p>
            <a:pPr algn="ctr"/>
            <a:r>
              <a:rPr lang="en-IN" sz="4900" dirty="0">
                <a:latin typeface="Algerian" panose="04020705040A02060702" pitchFamily="82" charset="0"/>
              </a:rPr>
              <a:t>RETAIL REVENUE ANALYSIS</a:t>
            </a:r>
            <a:br>
              <a:rPr lang="en-IN" dirty="0"/>
            </a:br>
            <a:r>
              <a:rPr lang="en-IN" sz="2200" i="1" dirty="0"/>
              <a:t>Data-Driven Insights for Smarter Retail Decisions</a:t>
            </a:r>
            <a:br>
              <a:rPr lang="en-IN" dirty="0"/>
            </a:br>
            <a:endParaRPr lang="en-IN" dirty="0"/>
          </a:p>
        </p:txBody>
      </p:sp>
      <p:sp>
        <p:nvSpPr>
          <p:cNvPr id="3" name="Subtitle 2">
            <a:extLst>
              <a:ext uri="{FF2B5EF4-FFF2-40B4-BE49-F238E27FC236}">
                <a16:creationId xmlns:a16="http://schemas.microsoft.com/office/drawing/2014/main" id="{4F2CBF19-5CA2-62E1-92CB-6C84702A8733}"/>
              </a:ext>
            </a:extLst>
          </p:cNvPr>
          <p:cNvSpPr>
            <a:spLocks noGrp="1"/>
          </p:cNvSpPr>
          <p:nvPr>
            <p:ph type="subTitle" idx="1"/>
          </p:nvPr>
        </p:nvSpPr>
        <p:spPr>
          <a:xfrm>
            <a:off x="2164080" y="2865120"/>
            <a:ext cx="9159240" cy="3398520"/>
          </a:xfrm>
        </p:spPr>
        <p:txBody>
          <a:bodyPr>
            <a:normAutofit fontScale="92500" lnSpcReduction="10000"/>
          </a:bodyPr>
          <a:lstStyle/>
          <a:p>
            <a:r>
              <a:rPr lang="en-IN" sz="3200" b="1" dirty="0">
                <a:latin typeface="Times New Roman" panose="02020603050405020304" pitchFamily="18" charset="0"/>
                <a:cs typeface="Times New Roman" panose="02020603050405020304" pitchFamily="18" charset="0"/>
              </a:rPr>
              <a:t>Tools Used:</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Excel | SQL | Python | Power BI</a:t>
            </a: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pPr algn="r"/>
            <a:r>
              <a:rPr lang="en-IN" sz="2600" dirty="0">
                <a:latin typeface="Times New Roman" panose="02020603050405020304" pitchFamily="18" charset="0"/>
                <a:cs typeface="Times New Roman" panose="02020603050405020304" pitchFamily="18" charset="0"/>
              </a:rPr>
              <a:t>PRESENTED BY </a:t>
            </a:r>
          </a:p>
          <a:p>
            <a:pPr algn="r"/>
            <a:r>
              <a:rPr lang="en-IN" sz="2600" dirty="0">
                <a:latin typeface="Times New Roman" panose="02020603050405020304" pitchFamily="18" charset="0"/>
                <a:cs typeface="Times New Roman" panose="02020603050405020304" pitchFamily="18" charset="0"/>
              </a:rPr>
              <a:t>R.THIRISHA</a:t>
            </a:r>
          </a:p>
        </p:txBody>
      </p:sp>
    </p:spTree>
    <p:extLst>
      <p:ext uri="{BB962C8B-B14F-4D97-AF65-F5344CB8AC3E}">
        <p14:creationId xmlns:p14="http://schemas.microsoft.com/office/powerpoint/2010/main" val="1631503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C7EC-CEE0-41D4-E55F-F4CCAA776DD1}"/>
              </a:ext>
            </a:extLst>
          </p:cNvPr>
          <p:cNvSpPr>
            <a:spLocks noGrp="1"/>
          </p:cNvSpPr>
          <p:nvPr>
            <p:ph type="title"/>
          </p:nvPr>
        </p:nvSpPr>
        <p:spPr/>
        <p:txBody>
          <a:bodyPr>
            <a:normAutofit/>
          </a:bodyPr>
          <a:lstStyle/>
          <a:p>
            <a:pPr algn="ctr"/>
            <a:r>
              <a:rPr lang="en-IN" b="1" dirty="0">
                <a:latin typeface="Algerian" panose="04020705040A02060702" pitchFamily="82" charset="0"/>
              </a:rPr>
              <a:t>INTRODUCTION</a:t>
            </a:r>
            <a:br>
              <a:rPr lang="en-IN" b="1"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186202AA-4A8F-08EE-8C15-E34CFCFAA618}"/>
              </a:ext>
            </a:extLst>
          </p:cNvPr>
          <p:cNvSpPr>
            <a:spLocks noGrp="1"/>
          </p:cNvSpPr>
          <p:nvPr>
            <p:ph idx="1"/>
          </p:nvPr>
        </p:nvSpPr>
        <p:spPr>
          <a:xfrm>
            <a:off x="731520" y="2103119"/>
            <a:ext cx="10515600" cy="3769043"/>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Retail Revenue Analysis</a:t>
            </a:r>
            <a:r>
              <a:rPr lang="en-IN" sz="1800" dirty="0">
                <a:latin typeface="Times New Roman" panose="02020603050405020304" pitchFamily="18" charset="0"/>
                <a:cs typeface="Times New Roman" panose="02020603050405020304" pitchFamily="18" charset="0"/>
              </a:rPr>
              <a:t> project focuses on </a:t>
            </a:r>
            <a:r>
              <a:rPr lang="en-IN" sz="1800" dirty="0" err="1">
                <a:latin typeface="Times New Roman" panose="02020603050405020304" pitchFamily="18" charset="0"/>
                <a:cs typeface="Times New Roman" panose="02020603050405020304" pitchFamily="18" charset="0"/>
              </a:rPr>
              <a:t>analyzing</a:t>
            </a:r>
            <a:r>
              <a:rPr lang="en-IN" sz="1800" dirty="0">
                <a:latin typeface="Times New Roman" panose="02020603050405020304" pitchFamily="18" charset="0"/>
                <a:cs typeface="Times New Roman" panose="02020603050405020304" pitchFamily="18" charset="0"/>
              </a:rPr>
              <a:t> retail transaction, customer, product, store, and sales data to understand overall business performance.</a:t>
            </a:r>
          </a:p>
          <a:p>
            <a:r>
              <a:rPr lang="en-IN" sz="1800" dirty="0">
                <a:latin typeface="Times New Roman" panose="02020603050405020304" pitchFamily="18" charset="0"/>
                <a:cs typeface="Times New Roman" panose="02020603050405020304" pitchFamily="18" charset="0"/>
              </a:rPr>
              <a:t>Using </a:t>
            </a:r>
            <a:r>
              <a:rPr lang="en-IN" sz="1800" b="1" dirty="0">
                <a:latin typeface="Times New Roman" panose="02020603050405020304" pitchFamily="18" charset="0"/>
                <a:cs typeface="Times New Roman" panose="02020603050405020304" pitchFamily="18" charset="0"/>
              </a:rPr>
              <a:t>Excel, SQL, Python, and Power BI</a:t>
            </a:r>
            <a:r>
              <a:rPr lang="en-IN" sz="1800" dirty="0">
                <a:latin typeface="Times New Roman" panose="02020603050405020304" pitchFamily="18" charset="0"/>
                <a:cs typeface="Times New Roman" panose="02020603050405020304" pitchFamily="18" charset="0"/>
              </a:rPr>
              <a:t>, the project transforms raw data into meaningful insights related to:</a:t>
            </a:r>
          </a:p>
          <a:p>
            <a:pPr lvl="0"/>
            <a:r>
              <a:rPr lang="en-IN" sz="1800" dirty="0">
                <a:latin typeface="Times New Roman" panose="02020603050405020304" pitchFamily="18" charset="0"/>
                <a:cs typeface="Times New Roman" panose="02020603050405020304" pitchFamily="18" charset="0"/>
              </a:rPr>
              <a:t>Revenue &amp; sales performance </a:t>
            </a:r>
          </a:p>
          <a:p>
            <a:pPr lvl="0"/>
            <a:r>
              <a:rPr lang="en-IN" sz="1800" dirty="0">
                <a:latin typeface="Times New Roman" panose="02020603050405020304" pitchFamily="18" charset="0"/>
                <a:cs typeface="Times New Roman" panose="02020603050405020304" pitchFamily="18" charset="0"/>
              </a:rPr>
              <a:t>Customer purchasing behaviour </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3218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32F2E-53C9-6348-1B37-A2121AE42DE3}"/>
              </a:ext>
            </a:extLst>
          </p:cNvPr>
          <p:cNvSpPr>
            <a:spLocks noGrp="1"/>
          </p:cNvSpPr>
          <p:nvPr>
            <p:ph type="title"/>
          </p:nvPr>
        </p:nvSpPr>
        <p:spPr/>
        <p:txBody>
          <a:bodyPr>
            <a:normAutofit/>
          </a:bodyPr>
          <a:lstStyle/>
          <a:p>
            <a:pPr algn="ctr"/>
            <a:r>
              <a:rPr lang="en-IN" b="1" dirty="0">
                <a:latin typeface="Algerian" panose="04020705040A02060702" pitchFamily="82" charset="0"/>
              </a:rPr>
              <a:t>Project Objectives</a:t>
            </a:r>
            <a:br>
              <a:rPr lang="en-IN" b="1"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F76C6E02-508E-A96E-3A64-49E209B6C00B}"/>
              </a:ext>
            </a:extLst>
          </p:cNvPr>
          <p:cNvSpPr>
            <a:spLocks noGrp="1"/>
          </p:cNvSpPr>
          <p:nvPr>
            <p:ph idx="1"/>
          </p:nvPr>
        </p:nvSpPr>
        <p:spPr>
          <a:xfrm>
            <a:off x="2179320" y="1838347"/>
            <a:ext cx="8275320" cy="4410054"/>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Objectives</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Clean and prepare retail datasets </a:t>
            </a:r>
          </a:p>
          <a:p>
            <a:pPr lvl="0">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sales and revenue trends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Identify top-performing products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Understand customer purchasing patterns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Segment customers based on their </a:t>
            </a:r>
            <a:r>
              <a:rPr lang="en-IN" sz="1800" dirty="0" err="1">
                <a:latin typeface="Times New Roman" panose="02020603050405020304" pitchFamily="18" charset="0"/>
                <a:cs typeface="Times New Roman" panose="02020603050405020304" pitchFamily="18" charset="0"/>
              </a:rPr>
              <a:t>behavior</a:t>
            </a:r>
            <a:r>
              <a:rPr lang="en-IN" sz="1800" dirty="0">
                <a:latin typeface="Times New Roman" panose="02020603050405020304" pitchFamily="18" charset="0"/>
                <a:cs typeface="Times New Roman" panose="02020603050405020304" pitchFamily="18" charset="0"/>
              </a:rPr>
              <a:t> </a:t>
            </a:r>
          </a:p>
          <a:p>
            <a:pPr lvl="0">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Analyze</a:t>
            </a:r>
            <a:r>
              <a:rPr lang="en-IN" sz="1800" dirty="0">
                <a:latin typeface="Times New Roman" panose="02020603050405020304" pitchFamily="18" charset="0"/>
                <a:cs typeface="Times New Roman" panose="02020603050405020304" pitchFamily="18" charset="0"/>
              </a:rPr>
              <a:t> store, state, and staff performance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Identify low-stock products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Build an interactive Power BI dashboard </a:t>
            </a:r>
          </a:p>
          <a:p>
            <a:pPr lvl="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Support data-driven business decisions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7258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4A85F-9F0E-3590-EB7C-18A2EE37FD46}"/>
              </a:ext>
            </a:extLst>
          </p:cNvPr>
          <p:cNvSpPr>
            <a:spLocks noGrp="1"/>
          </p:cNvSpPr>
          <p:nvPr>
            <p:ph type="title"/>
          </p:nvPr>
        </p:nvSpPr>
        <p:spPr/>
        <p:txBody>
          <a:bodyPr>
            <a:normAutofit/>
          </a:bodyPr>
          <a:lstStyle/>
          <a:p>
            <a:pPr algn="ctr"/>
            <a:r>
              <a:rPr lang="en-IN" sz="4400" dirty="0">
                <a:latin typeface="Algerian" panose="04020705040A02060702" pitchFamily="82" charset="0"/>
              </a:rPr>
              <a:t>PROBLEM STATEMENT</a:t>
            </a:r>
          </a:p>
        </p:txBody>
      </p:sp>
      <p:sp>
        <p:nvSpPr>
          <p:cNvPr id="3" name="Content Placeholder 2">
            <a:extLst>
              <a:ext uri="{FF2B5EF4-FFF2-40B4-BE49-F238E27FC236}">
                <a16:creationId xmlns:a16="http://schemas.microsoft.com/office/drawing/2014/main" id="{97D74271-4C7F-B291-2745-A8DD79CE22A9}"/>
              </a:ext>
            </a:extLst>
          </p:cNvPr>
          <p:cNvSpPr>
            <a:spLocks noGrp="1"/>
          </p:cNvSpPr>
          <p:nvPr>
            <p:ph idx="1"/>
          </p:nvPr>
        </p:nvSpPr>
        <p:spPr>
          <a:xfrm>
            <a:off x="301752" y="2047284"/>
            <a:ext cx="11113008" cy="4399235"/>
          </a:xfrm>
        </p:spPr>
        <p:txBody>
          <a:bodyPr>
            <a:noAutofit/>
          </a:bodyPr>
          <a:lstStyle/>
          <a:p>
            <a:r>
              <a:rPr lang="en-IN" sz="2000" dirty="0">
                <a:latin typeface="Times New Roman" panose="02020603050405020304" pitchFamily="18" charset="0"/>
                <a:cs typeface="Times New Roman" panose="02020603050405020304" pitchFamily="18" charset="0"/>
              </a:rPr>
              <a:t>The key business challenge is to analyse fragmented retail data and identify the factors affecting revenue, sales, customer behaviour, product performance, and operational efficiency. The project addresses these challenges by using Excel, SQL, Python, and Power BI to create a consolidated and interactive revenue analysis solution.”</a:t>
            </a:r>
          </a:p>
          <a:p>
            <a:r>
              <a:rPr lang="en-US" sz="2000" b="1" dirty="0">
                <a:latin typeface="Times New Roman" panose="02020603050405020304" pitchFamily="18" charset="0"/>
                <a:cs typeface="Times New Roman" panose="02020603050405020304" pitchFamily="18" charset="0"/>
              </a:rPr>
              <a:t>Business Use Cases:</a:t>
            </a:r>
          </a:p>
          <a:p>
            <a:r>
              <a:rPr lang="en-US" sz="2000" dirty="0">
                <a:latin typeface="Times New Roman" panose="02020603050405020304" pitchFamily="18" charset="0"/>
                <a:cs typeface="Times New Roman" panose="02020603050405020304" pitchFamily="18" charset="0"/>
              </a:rPr>
              <a:t>1. Analyze sales performance across different stores and staff</a:t>
            </a:r>
          </a:p>
          <a:p>
            <a:r>
              <a:rPr lang="en-US" sz="2000" dirty="0">
                <a:latin typeface="Times New Roman" panose="02020603050405020304" pitchFamily="18" charset="0"/>
                <a:cs typeface="Times New Roman" panose="02020603050405020304" pitchFamily="18" charset="0"/>
              </a:rPr>
              <a:t>2. Identify high-value customers and buying behavior patterns</a:t>
            </a:r>
          </a:p>
          <a:p>
            <a:r>
              <a:rPr lang="en-US" sz="2000" dirty="0">
                <a:latin typeface="Times New Roman" panose="02020603050405020304" pitchFamily="18" charset="0"/>
                <a:cs typeface="Times New Roman" panose="02020603050405020304" pitchFamily="18" charset="0"/>
              </a:rPr>
              <a:t>3. Perform customer segmentation for targeted marketing</a:t>
            </a:r>
          </a:p>
          <a:p>
            <a:r>
              <a:rPr lang="en-US" sz="2000" dirty="0">
                <a:latin typeface="Times New Roman" panose="02020603050405020304" pitchFamily="18" charset="0"/>
                <a:cs typeface="Times New Roman" panose="02020603050405020304" pitchFamily="18" charset="0"/>
              </a:rPr>
              <a:t>4. Monitor inventory levels and product performance</a:t>
            </a:r>
          </a:p>
          <a:p>
            <a:r>
              <a:rPr lang="en-US" sz="2000" dirty="0">
                <a:latin typeface="Times New Roman" panose="02020603050405020304" pitchFamily="18" charset="0"/>
                <a:cs typeface="Times New Roman" panose="02020603050405020304" pitchFamily="18" charset="0"/>
              </a:rPr>
              <a:t>5. Create an interactive Power BI dashboard for management insights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018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A24E-008A-476F-E2E5-71DB2B658564}"/>
              </a:ext>
            </a:extLst>
          </p:cNvPr>
          <p:cNvSpPr>
            <a:spLocks noGrp="1"/>
          </p:cNvSpPr>
          <p:nvPr>
            <p:ph type="title"/>
          </p:nvPr>
        </p:nvSpPr>
        <p:spPr/>
        <p:txBody>
          <a:bodyPr>
            <a:normAutofit/>
          </a:bodyPr>
          <a:lstStyle/>
          <a:p>
            <a:pPr algn="ctr"/>
            <a:r>
              <a:rPr lang="en-IN" b="1" dirty="0">
                <a:latin typeface="Algerian" panose="04020705040A02060702" pitchFamily="82" charset="0"/>
              </a:rPr>
              <a:t>TOOLS &amp; TECHNOLOGIES</a:t>
            </a:r>
            <a:br>
              <a:rPr lang="en-IN" b="1" dirty="0">
                <a:latin typeface="Algerian" panose="04020705040A02060702" pitchFamily="82" charset="0"/>
              </a:rPr>
            </a:br>
            <a:endParaRPr lang="en-IN" dirty="0">
              <a:latin typeface="Algerian" panose="04020705040A02060702" pitchFamily="82" charset="0"/>
            </a:endParaRPr>
          </a:p>
        </p:txBody>
      </p:sp>
      <p:graphicFrame>
        <p:nvGraphicFramePr>
          <p:cNvPr id="4" name="Content Placeholder 3">
            <a:extLst>
              <a:ext uri="{FF2B5EF4-FFF2-40B4-BE49-F238E27FC236}">
                <a16:creationId xmlns:a16="http://schemas.microsoft.com/office/drawing/2014/main" id="{C9309DDF-02BF-FD98-4017-58B3B7517565}"/>
              </a:ext>
            </a:extLst>
          </p:cNvPr>
          <p:cNvGraphicFramePr>
            <a:graphicFrameLocks noGrp="1"/>
          </p:cNvGraphicFramePr>
          <p:nvPr>
            <p:ph idx="1"/>
            <p:extLst>
              <p:ext uri="{D42A27DB-BD31-4B8C-83A1-F6EECF244321}">
                <p14:modId xmlns:p14="http://schemas.microsoft.com/office/powerpoint/2010/main" val="1361862032"/>
              </p:ext>
            </p:extLst>
          </p:nvPr>
        </p:nvGraphicFramePr>
        <p:xfrm>
          <a:off x="685800" y="2179320"/>
          <a:ext cx="10668000" cy="3931920"/>
        </p:xfrm>
        <a:graphic>
          <a:graphicData uri="http://schemas.openxmlformats.org/drawingml/2006/table">
            <a:tbl>
              <a:tblPr>
                <a:tableStyleId>{5C22544A-7EE6-4342-B048-85BDC9FD1C3A}</a:tableStyleId>
              </a:tblPr>
              <a:tblGrid>
                <a:gridCol w="5334000">
                  <a:extLst>
                    <a:ext uri="{9D8B030D-6E8A-4147-A177-3AD203B41FA5}">
                      <a16:colId xmlns:a16="http://schemas.microsoft.com/office/drawing/2014/main" val="1966412255"/>
                    </a:ext>
                  </a:extLst>
                </a:gridCol>
                <a:gridCol w="5334000">
                  <a:extLst>
                    <a:ext uri="{9D8B030D-6E8A-4147-A177-3AD203B41FA5}">
                      <a16:colId xmlns:a16="http://schemas.microsoft.com/office/drawing/2014/main" val="700342722"/>
                    </a:ext>
                  </a:extLst>
                </a:gridCol>
              </a:tblGrid>
              <a:tr h="786384">
                <a:tc>
                  <a:txBody>
                    <a:bodyPr/>
                    <a:lstStyle/>
                    <a:p>
                      <a:pPr>
                        <a:buNone/>
                      </a:pPr>
                      <a:r>
                        <a:rPr lang="en-IN">
                          <a:latin typeface="Times New Roman" panose="02020603050405020304" pitchFamily="18" charset="0"/>
                          <a:cs typeface="Times New Roman" panose="02020603050405020304" pitchFamily="18" charset="0"/>
                        </a:rPr>
                        <a:t>Tool</a:t>
                      </a:r>
                    </a:p>
                  </a:txBody>
                  <a:tcPr anchor="ctr"/>
                </a:tc>
                <a:tc>
                  <a:txBody>
                    <a:bodyPr/>
                    <a:lstStyle/>
                    <a:p>
                      <a:pPr>
                        <a:buNone/>
                      </a:pPr>
                      <a:r>
                        <a:rPr lang="en-IN">
                          <a:latin typeface="Times New Roman" panose="02020603050405020304" pitchFamily="18" charset="0"/>
                          <a:cs typeface="Times New Roman" panose="02020603050405020304" pitchFamily="18" charset="0"/>
                        </a:rPr>
                        <a:t>Purpose</a:t>
                      </a:r>
                    </a:p>
                  </a:txBody>
                  <a:tcPr anchor="ctr"/>
                </a:tc>
                <a:extLst>
                  <a:ext uri="{0D108BD9-81ED-4DB2-BD59-A6C34878D82A}">
                    <a16:rowId xmlns:a16="http://schemas.microsoft.com/office/drawing/2014/main" val="1756929661"/>
                  </a:ext>
                </a:extLst>
              </a:tr>
              <a:tr h="786384">
                <a:tc>
                  <a:txBody>
                    <a:bodyPr/>
                    <a:lstStyle/>
                    <a:p>
                      <a:pPr>
                        <a:buNone/>
                      </a:pPr>
                      <a:r>
                        <a:rPr lang="en-IN" dirty="0">
                          <a:latin typeface="Times New Roman" panose="02020603050405020304" pitchFamily="18" charset="0"/>
                          <a:cs typeface="Times New Roman" panose="02020603050405020304" pitchFamily="18" charset="0"/>
                        </a:rPr>
                        <a:t>Excel</a:t>
                      </a:r>
                    </a:p>
                  </a:txBody>
                  <a:tcPr anchor="ctr"/>
                </a:tc>
                <a:tc>
                  <a:txBody>
                    <a:bodyPr/>
                    <a:lstStyle/>
                    <a:p>
                      <a:pPr>
                        <a:buNone/>
                      </a:pPr>
                      <a:r>
                        <a:rPr lang="en-IN">
                          <a:latin typeface="Times New Roman" panose="02020603050405020304" pitchFamily="18" charset="0"/>
                          <a:cs typeface="Times New Roman" panose="02020603050405020304" pitchFamily="18" charset="0"/>
                        </a:rPr>
                        <a:t>Data cleaning, formatting &amp; preparation</a:t>
                      </a:r>
                    </a:p>
                  </a:txBody>
                  <a:tcPr anchor="ctr"/>
                </a:tc>
                <a:extLst>
                  <a:ext uri="{0D108BD9-81ED-4DB2-BD59-A6C34878D82A}">
                    <a16:rowId xmlns:a16="http://schemas.microsoft.com/office/drawing/2014/main" val="1220518399"/>
                  </a:ext>
                </a:extLst>
              </a:tr>
              <a:tr h="786384">
                <a:tc>
                  <a:txBody>
                    <a:bodyPr/>
                    <a:lstStyle/>
                    <a:p>
                      <a:pPr>
                        <a:buNone/>
                      </a:pPr>
                      <a:r>
                        <a:rPr lang="en-IN">
                          <a:latin typeface="Times New Roman" panose="02020603050405020304" pitchFamily="18" charset="0"/>
                          <a:cs typeface="Times New Roman" panose="02020603050405020304" pitchFamily="18" charset="0"/>
                        </a:rPr>
                        <a:t>SQL</a:t>
                      </a:r>
                    </a:p>
                  </a:txBody>
                  <a:tcPr anchor="ctr"/>
                </a:tc>
                <a:tc>
                  <a:txBody>
                    <a:bodyPr/>
                    <a:lstStyle/>
                    <a:p>
                      <a:pPr>
                        <a:buNone/>
                      </a:pPr>
                      <a:r>
                        <a:rPr lang="en-IN">
                          <a:latin typeface="Times New Roman" panose="02020603050405020304" pitchFamily="18" charset="0"/>
                          <a:cs typeface="Times New Roman" panose="02020603050405020304" pitchFamily="18" charset="0"/>
                        </a:rPr>
                        <a:t>Data querying, joins &amp; business analysis</a:t>
                      </a:r>
                    </a:p>
                  </a:txBody>
                  <a:tcPr anchor="ctr"/>
                </a:tc>
                <a:extLst>
                  <a:ext uri="{0D108BD9-81ED-4DB2-BD59-A6C34878D82A}">
                    <a16:rowId xmlns:a16="http://schemas.microsoft.com/office/drawing/2014/main" val="475380150"/>
                  </a:ext>
                </a:extLst>
              </a:tr>
              <a:tr h="786384">
                <a:tc>
                  <a:txBody>
                    <a:bodyPr/>
                    <a:lstStyle/>
                    <a:p>
                      <a:pPr>
                        <a:buNone/>
                      </a:pPr>
                      <a:r>
                        <a:rPr lang="en-IN">
                          <a:latin typeface="Times New Roman" panose="02020603050405020304" pitchFamily="18" charset="0"/>
                          <a:cs typeface="Times New Roman" panose="02020603050405020304" pitchFamily="18" charset="0"/>
                        </a:rPr>
                        <a:t>Python</a:t>
                      </a:r>
                    </a:p>
                  </a:txBody>
                  <a:tcPr anchor="ctr"/>
                </a:tc>
                <a:tc>
                  <a:txBody>
                    <a:bodyPr/>
                    <a:lstStyle/>
                    <a:p>
                      <a:pPr>
                        <a:buNone/>
                      </a:pPr>
                      <a:r>
                        <a:rPr lang="en-IN">
                          <a:latin typeface="Times New Roman" panose="02020603050405020304" pitchFamily="18" charset="0"/>
                          <a:cs typeface="Times New Roman" panose="02020603050405020304" pitchFamily="18" charset="0"/>
                        </a:rPr>
                        <a:t>Data analysis &amp; customer segmentation</a:t>
                      </a:r>
                    </a:p>
                  </a:txBody>
                  <a:tcPr anchor="ctr"/>
                </a:tc>
                <a:extLst>
                  <a:ext uri="{0D108BD9-81ED-4DB2-BD59-A6C34878D82A}">
                    <a16:rowId xmlns:a16="http://schemas.microsoft.com/office/drawing/2014/main" val="2836751661"/>
                  </a:ext>
                </a:extLst>
              </a:tr>
              <a:tr h="786384">
                <a:tc>
                  <a:txBody>
                    <a:bodyPr/>
                    <a:lstStyle/>
                    <a:p>
                      <a:pPr>
                        <a:buNone/>
                      </a:pPr>
                      <a:r>
                        <a:rPr lang="en-IN" dirty="0">
                          <a:latin typeface="Times New Roman" panose="02020603050405020304" pitchFamily="18" charset="0"/>
                          <a:cs typeface="Times New Roman" panose="02020603050405020304" pitchFamily="18" charset="0"/>
                        </a:rPr>
                        <a:t>Power BI</a:t>
                      </a:r>
                    </a:p>
                  </a:txBody>
                  <a:tcPr anchor="ctr"/>
                </a:tc>
                <a:tc>
                  <a:txBody>
                    <a:bodyPr/>
                    <a:lstStyle/>
                    <a:p>
                      <a:pPr>
                        <a:buNone/>
                      </a:pPr>
                      <a:r>
                        <a:rPr lang="en-IN" dirty="0">
                          <a:latin typeface="Times New Roman" panose="02020603050405020304" pitchFamily="18" charset="0"/>
                          <a:cs typeface="Times New Roman" panose="02020603050405020304" pitchFamily="18" charset="0"/>
                        </a:rPr>
                        <a:t>Interactive dashboard &amp; visualization</a:t>
                      </a:r>
                    </a:p>
                  </a:txBody>
                  <a:tcPr anchor="ctr"/>
                </a:tc>
                <a:extLst>
                  <a:ext uri="{0D108BD9-81ED-4DB2-BD59-A6C34878D82A}">
                    <a16:rowId xmlns:a16="http://schemas.microsoft.com/office/drawing/2014/main" val="603397185"/>
                  </a:ext>
                </a:extLst>
              </a:tr>
            </a:tbl>
          </a:graphicData>
        </a:graphic>
      </p:graphicFrame>
    </p:spTree>
    <p:extLst>
      <p:ext uri="{BB962C8B-B14F-4D97-AF65-F5344CB8AC3E}">
        <p14:creationId xmlns:p14="http://schemas.microsoft.com/office/powerpoint/2010/main" val="553391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3D832-F5AD-04BB-9E43-24BCA14EBFA0}"/>
              </a:ext>
            </a:extLst>
          </p:cNvPr>
          <p:cNvSpPr>
            <a:spLocks noGrp="1"/>
          </p:cNvSpPr>
          <p:nvPr>
            <p:ph type="title"/>
          </p:nvPr>
        </p:nvSpPr>
        <p:spPr/>
        <p:txBody>
          <a:bodyPr>
            <a:normAutofit/>
          </a:bodyPr>
          <a:lstStyle/>
          <a:p>
            <a:pPr algn="ctr"/>
            <a:r>
              <a:rPr lang="en-IN" b="1" dirty="0">
                <a:latin typeface="Algerian" panose="04020705040A02060702" pitchFamily="82" charset="0"/>
              </a:rPr>
              <a:t>EXCEL – DATA PREPARATION &amp; ANALYSIS</a:t>
            </a:r>
            <a:br>
              <a:rPr lang="en-IN"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C9DDD297-26CA-5AC4-874B-F74FF5A38BB8}"/>
              </a:ext>
            </a:extLst>
          </p:cNvPr>
          <p:cNvSpPr>
            <a:spLocks noGrp="1"/>
          </p:cNvSpPr>
          <p:nvPr>
            <p:ph idx="1"/>
          </p:nvPr>
        </p:nvSpPr>
        <p:spPr>
          <a:xfrm>
            <a:off x="1432560" y="2057401"/>
            <a:ext cx="8747760" cy="4191000"/>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Content:</a:t>
            </a:r>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Combined and organized the retail datasets </a:t>
            </a:r>
          </a:p>
          <a:p>
            <a:pPr lvl="0"/>
            <a:r>
              <a:rPr lang="en-IN" sz="1800" dirty="0">
                <a:latin typeface="Times New Roman" panose="02020603050405020304" pitchFamily="18" charset="0"/>
                <a:cs typeface="Times New Roman" panose="02020603050405020304" pitchFamily="18" charset="0"/>
              </a:rPr>
              <a:t>Cleaned and formatted the data </a:t>
            </a:r>
          </a:p>
          <a:p>
            <a:pPr lvl="0"/>
            <a:r>
              <a:rPr lang="en-IN" sz="1800" dirty="0">
                <a:latin typeface="Times New Roman" panose="02020603050405020304" pitchFamily="18" charset="0"/>
                <a:cs typeface="Times New Roman" panose="02020603050405020304" pitchFamily="18" charset="0"/>
              </a:rPr>
              <a:t>Removed duplicate records </a:t>
            </a:r>
          </a:p>
          <a:p>
            <a:pPr lvl="0"/>
            <a:r>
              <a:rPr lang="en-IN" sz="1800" dirty="0">
                <a:latin typeface="Times New Roman" panose="02020603050405020304" pitchFamily="18" charset="0"/>
                <a:cs typeface="Times New Roman" panose="02020603050405020304" pitchFamily="18" charset="0"/>
              </a:rPr>
              <a:t>Handled missing values </a:t>
            </a:r>
          </a:p>
          <a:p>
            <a:pPr lvl="0"/>
            <a:r>
              <a:rPr lang="en-IN" sz="1800" dirty="0">
                <a:latin typeface="Times New Roman" panose="02020603050405020304" pitchFamily="18" charset="0"/>
                <a:cs typeface="Times New Roman" panose="02020603050405020304" pitchFamily="18" charset="0"/>
              </a:rPr>
              <a:t>Standardized date and text formats </a:t>
            </a:r>
          </a:p>
          <a:p>
            <a:pPr lvl="0"/>
            <a:r>
              <a:rPr lang="en-IN" sz="1800" dirty="0">
                <a:latin typeface="Times New Roman" panose="02020603050405020304" pitchFamily="18" charset="0"/>
                <a:cs typeface="Times New Roman" panose="02020603050405020304" pitchFamily="18" charset="0"/>
              </a:rPr>
              <a:t>Used </a:t>
            </a:r>
            <a:r>
              <a:rPr lang="en-IN" sz="1800" b="1" dirty="0">
                <a:latin typeface="Times New Roman" panose="02020603050405020304" pitchFamily="18" charset="0"/>
                <a:cs typeface="Times New Roman" panose="02020603050405020304" pitchFamily="18" charset="0"/>
              </a:rPr>
              <a:t>VLOOKUP / XLOOKUP</a:t>
            </a:r>
            <a:r>
              <a:rPr lang="en-IN" sz="1800" dirty="0">
                <a:latin typeface="Times New Roman" panose="02020603050405020304" pitchFamily="18" charset="0"/>
                <a:cs typeface="Times New Roman" panose="02020603050405020304" pitchFamily="18" charset="0"/>
              </a:rPr>
              <a:t> to combine related product information </a:t>
            </a:r>
          </a:p>
          <a:p>
            <a:pPr lvl="0"/>
            <a:r>
              <a:rPr lang="en-IN" sz="1800" dirty="0">
                <a:latin typeface="Times New Roman" panose="02020603050405020304" pitchFamily="18" charset="0"/>
                <a:cs typeface="Times New Roman" panose="02020603050405020304" pitchFamily="18" charset="0"/>
              </a:rPr>
              <a:t>Checked sales, quantity, price and discount values </a:t>
            </a:r>
          </a:p>
          <a:p>
            <a:pPr lvl="0"/>
            <a:r>
              <a:rPr lang="en-IN" sz="1800" dirty="0">
                <a:latin typeface="Times New Roman" panose="02020603050405020304" pitchFamily="18" charset="0"/>
                <a:cs typeface="Times New Roman" panose="02020603050405020304" pitchFamily="18" charset="0"/>
              </a:rPr>
              <a:t>Identified and handled data inconsistencies and outliers </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61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98C1A-82AB-DAF8-CF31-EDAC7F5927A1}"/>
              </a:ext>
            </a:extLst>
          </p:cNvPr>
          <p:cNvSpPr>
            <a:spLocks noGrp="1"/>
          </p:cNvSpPr>
          <p:nvPr>
            <p:ph type="title"/>
          </p:nvPr>
        </p:nvSpPr>
        <p:spPr>
          <a:xfrm>
            <a:off x="301752" y="0"/>
            <a:ext cx="11604046" cy="1112520"/>
          </a:xfrm>
        </p:spPr>
        <p:txBody>
          <a:bodyPr/>
          <a:lstStyle/>
          <a:p>
            <a:pPr algn="ctr"/>
            <a:r>
              <a:rPr lang="en-IN" dirty="0">
                <a:latin typeface="Algerian" panose="04020705040A02060702" pitchFamily="82" charset="0"/>
              </a:rPr>
              <a:t>SQL ANALYSIS</a:t>
            </a:r>
          </a:p>
        </p:txBody>
      </p:sp>
      <p:sp>
        <p:nvSpPr>
          <p:cNvPr id="3" name="Content Placeholder 2">
            <a:extLst>
              <a:ext uri="{FF2B5EF4-FFF2-40B4-BE49-F238E27FC236}">
                <a16:creationId xmlns:a16="http://schemas.microsoft.com/office/drawing/2014/main" id="{C85F6440-B2FC-169B-6501-2461900DBEE3}"/>
              </a:ext>
            </a:extLst>
          </p:cNvPr>
          <p:cNvSpPr>
            <a:spLocks noGrp="1"/>
          </p:cNvSpPr>
          <p:nvPr>
            <p:ph idx="1"/>
          </p:nvPr>
        </p:nvSpPr>
        <p:spPr>
          <a:xfrm>
            <a:off x="1981200" y="1554480"/>
            <a:ext cx="7833360" cy="5074920"/>
          </a:xfrm>
        </p:spPr>
        <p:txBody>
          <a:bodyPr>
            <a:noAutofit/>
          </a:bodyPr>
          <a:lstStyle/>
          <a:p>
            <a:pPr marL="285750" lvl="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Applied primary &amp; foreign keys </a:t>
            </a:r>
          </a:p>
          <a:p>
            <a:pPr marL="285750" lvl="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Used joins between: </a:t>
            </a:r>
          </a:p>
          <a:p>
            <a:pPr marL="514350" lvl="1"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Orders </a:t>
            </a:r>
          </a:p>
          <a:p>
            <a:pPr marL="514350" lvl="1"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Order Items </a:t>
            </a:r>
          </a:p>
          <a:p>
            <a:pPr marL="514350" lvl="1"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Products </a:t>
            </a:r>
          </a:p>
          <a:p>
            <a:pPr marL="514350" lvl="1"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Customers </a:t>
            </a:r>
          </a:p>
          <a:p>
            <a:pPr marL="514350" lvl="1"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Stores </a:t>
            </a:r>
          </a:p>
          <a:p>
            <a:pPr marL="514350" lvl="1"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Staff </a:t>
            </a:r>
          </a:p>
          <a:p>
            <a:pPr marL="285750" lvl="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Calculated total sales/revenue </a:t>
            </a:r>
          </a:p>
          <a:p>
            <a:pPr marL="285750" lvl="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Identified top-selling products </a:t>
            </a:r>
          </a:p>
          <a:p>
            <a:pPr marL="285750" lvl="0" indent="-285750">
              <a:buFont typeface="Wingdings" panose="05000000000000000000" pitchFamily="2" charset="2"/>
              <a:buChar char="v"/>
            </a:pPr>
            <a:r>
              <a:rPr lang="en-IN" sz="1600" dirty="0" err="1">
                <a:latin typeface="Times New Roman" panose="02020603050405020304" pitchFamily="18" charset="0"/>
                <a:cs typeface="Times New Roman" panose="02020603050405020304" pitchFamily="18" charset="0"/>
              </a:rPr>
              <a:t>Analyzed</a:t>
            </a:r>
            <a:r>
              <a:rPr lang="en-IN" sz="1600" dirty="0">
                <a:latin typeface="Times New Roman" panose="02020603050405020304" pitchFamily="18" charset="0"/>
                <a:cs typeface="Times New Roman" panose="02020603050405020304" pitchFamily="18" charset="0"/>
              </a:rPr>
              <a:t> customer spending </a:t>
            </a:r>
          </a:p>
          <a:p>
            <a:pPr marL="285750" lvl="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Performed store and staff revenue analysis </a:t>
            </a:r>
          </a:p>
          <a:p>
            <a:pPr marL="285750" lvl="0" indent="-285750">
              <a:buFont typeface="Wingdings" panose="05000000000000000000" pitchFamily="2" charset="2"/>
              <a:buChar char="v"/>
            </a:pPr>
            <a:r>
              <a:rPr lang="en-IN" sz="1600" dirty="0">
                <a:latin typeface="Times New Roman" panose="02020603050405020304" pitchFamily="18" charset="0"/>
                <a:cs typeface="Times New Roman" panose="02020603050405020304" pitchFamily="18" charset="0"/>
              </a:rPr>
              <a:t>Created </a:t>
            </a:r>
            <a:r>
              <a:rPr lang="en-IN" sz="1600" b="1" dirty="0" err="1">
                <a:latin typeface="Times New Roman" panose="02020603050405020304" pitchFamily="18" charset="0"/>
                <a:cs typeface="Times New Roman" panose="02020603050405020304" pitchFamily="18" charset="0"/>
              </a:rPr>
              <a:t>customer_segments</a:t>
            </a:r>
            <a:r>
              <a:rPr lang="en-IN" sz="1600" dirty="0">
                <a:latin typeface="Times New Roman" panose="02020603050405020304" pitchFamily="18" charset="0"/>
                <a:cs typeface="Times New Roman" panose="02020603050405020304" pitchFamily="18" charset="0"/>
              </a:rPr>
              <a:t> table </a:t>
            </a:r>
          </a:p>
        </p:txBody>
      </p:sp>
    </p:spTree>
    <p:extLst>
      <p:ext uri="{BB962C8B-B14F-4D97-AF65-F5344CB8AC3E}">
        <p14:creationId xmlns:p14="http://schemas.microsoft.com/office/powerpoint/2010/main" val="190310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0A8FA-1671-CA0B-1380-5F50FD2CCF10}"/>
              </a:ext>
            </a:extLst>
          </p:cNvPr>
          <p:cNvSpPr>
            <a:spLocks noGrp="1"/>
          </p:cNvSpPr>
          <p:nvPr>
            <p:ph type="title"/>
          </p:nvPr>
        </p:nvSpPr>
        <p:spPr>
          <a:xfrm>
            <a:off x="301752" y="106680"/>
            <a:ext cx="11604046" cy="929640"/>
          </a:xfrm>
        </p:spPr>
        <p:txBody>
          <a:bodyPr>
            <a:normAutofit/>
          </a:bodyPr>
          <a:lstStyle/>
          <a:p>
            <a:pPr algn="ctr"/>
            <a:r>
              <a:rPr lang="en-IN" b="1" dirty="0">
                <a:latin typeface="Algerian" panose="04020705040A02060702" pitchFamily="82" charset="0"/>
              </a:rPr>
              <a:t>PYTHON DATA ANALYSIS</a:t>
            </a:r>
            <a:br>
              <a:rPr lang="en-IN" b="1"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6E5DF16D-B75C-23DE-8EF8-F2F93416DE58}"/>
              </a:ext>
            </a:extLst>
          </p:cNvPr>
          <p:cNvSpPr>
            <a:spLocks noGrp="1"/>
          </p:cNvSpPr>
          <p:nvPr>
            <p:ph idx="1"/>
          </p:nvPr>
        </p:nvSpPr>
        <p:spPr>
          <a:xfrm>
            <a:off x="301752" y="1371600"/>
            <a:ext cx="11604046" cy="4910327"/>
          </a:xfrm>
        </p:spPr>
        <p:txBody>
          <a:bodyPr>
            <a:normAutofit/>
          </a:bodyPr>
          <a:lstStyle/>
          <a:p>
            <a:pPr marL="285750" indent="-28575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Python Tasks Completed</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Imported SQL data using Pandas </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Used: </a:t>
            </a:r>
          </a:p>
          <a:p>
            <a:pPr marL="514350" lvl="1"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df.info() </a:t>
            </a:r>
          </a:p>
          <a:p>
            <a:pPr marL="514350" lvl="1" indent="-285750">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df.describe</a:t>
            </a:r>
            <a:r>
              <a:rPr lang="en-IN" sz="1800" dirty="0">
                <a:latin typeface="Times New Roman" panose="02020603050405020304" pitchFamily="18" charset="0"/>
                <a:cs typeface="Times New Roman" panose="02020603050405020304" pitchFamily="18" charset="0"/>
              </a:rPr>
              <a:t>() </a:t>
            </a:r>
          </a:p>
          <a:p>
            <a:pPr marL="514350" lvl="1" indent="-285750">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df.value_counts</a:t>
            </a:r>
            <a:r>
              <a:rPr lang="en-IN" sz="1800" dirty="0">
                <a:latin typeface="Times New Roman" panose="02020603050405020304" pitchFamily="18" charset="0"/>
                <a:cs typeface="Times New Roman" panose="02020603050405020304" pitchFamily="18" charset="0"/>
              </a:rPr>
              <a:t>() </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Performed data exploration </a:t>
            </a:r>
          </a:p>
          <a:p>
            <a:pPr marL="285750" lvl="0" indent="-285750">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Analyzed</a:t>
            </a:r>
            <a:r>
              <a:rPr lang="en-IN" sz="1800" dirty="0">
                <a:latin typeface="Times New Roman" panose="02020603050405020304" pitchFamily="18" charset="0"/>
                <a:cs typeface="Times New Roman" panose="02020603050405020304" pitchFamily="18" charset="0"/>
              </a:rPr>
              <a:t> customer </a:t>
            </a:r>
            <a:r>
              <a:rPr lang="en-IN" sz="1800" dirty="0" err="1">
                <a:latin typeface="Times New Roman" panose="02020603050405020304" pitchFamily="18" charset="0"/>
                <a:cs typeface="Times New Roman" panose="02020603050405020304" pitchFamily="18" charset="0"/>
              </a:rPr>
              <a:t>behavior</a:t>
            </a:r>
            <a:r>
              <a:rPr lang="en-IN" sz="1800" dirty="0">
                <a:latin typeface="Times New Roman" panose="02020603050405020304" pitchFamily="18" charset="0"/>
                <a:cs typeface="Times New Roman" panose="02020603050405020304" pitchFamily="18" charset="0"/>
              </a:rPr>
              <a:t>  using RFM features: </a:t>
            </a:r>
            <a:r>
              <a:rPr lang="en-IN" sz="1800" dirty="0" err="1">
                <a:latin typeface="Times New Roman" panose="02020603050405020304" pitchFamily="18" charset="0"/>
                <a:cs typeface="Times New Roman" panose="02020603050405020304" pitchFamily="18" charset="0"/>
              </a:rPr>
              <a:t>Recency,Frequency</a:t>
            </a:r>
            <a:r>
              <a:rPr lang="en-IN" sz="1800" dirty="0">
                <a:latin typeface="Times New Roman" panose="02020603050405020304" pitchFamily="18" charset="0"/>
                <a:cs typeface="Times New Roman" panose="02020603050405020304" pitchFamily="18" charset="0"/>
              </a:rPr>
              <a:t> and Monetary value.</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Created customer segmentation </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Generated segmentation results </a:t>
            </a:r>
          </a:p>
          <a:p>
            <a:pPr marL="285750" lvl="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Exported segmentation results for Power BI </a:t>
            </a:r>
            <a:endParaRPr lang="en-IN" sz="18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39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86C14-B6F2-3070-7CD1-92FF36EE454E}"/>
              </a:ext>
            </a:extLst>
          </p:cNvPr>
          <p:cNvSpPr>
            <a:spLocks noGrp="1"/>
          </p:cNvSpPr>
          <p:nvPr>
            <p:ph type="title"/>
          </p:nvPr>
        </p:nvSpPr>
        <p:spPr>
          <a:xfrm>
            <a:off x="350520" y="569075"/>
            <a:ext cx="11604046" cy="969206"/>
          </a:xfrm>
        </p:spPr>
        <p:txBody>
          <a:bodyPr>
            <a:normAutofit fontScale="90000"/>
          </a:bodyPr>
          <a:lstStyle/>
          <a:p>
            <a:pPr algn="ctr"/>
            <a:r>
              <a:rPr lang="en-IN" sz="3100" b="1" dirty="0">
                <a:latin typeface="Algerian" panose="04020705040A02060702" pitchFamily="82" charset="0"/>
              </a:rPr>
              <a:t>POWER BI DASHBOARD</a:t>
            </a:r>
            <a:br>
              <a:rPr lang="en-IN" b="1" dirty="0"/>
            </a:br>
            <a:r>
              <a:rPr lang="en-IN" sz="3100" b="1" dirty="0" err="1">
                <a:latin typeface="Times New Roman" panose="02020603050405020304" pitchFamily="18" charset="0"/>
                <a:cs typeface="Times New Roman" panose="02020603050405020304" pitchFamily="18" charset="0"/>
              </a:rPr>
              <a:t>Dashboard</a:t>
            </a:r>
            <a:r>
              <a:rPr lang="en-IN" sz="3100" b="1" dirty="0">
                <a:latin typeface="Times New Roman" panose="02020603050405020304" pitchFamily="18" charset="0"/>
                <a:cs typeface="Times New Roman" panose="02020603050405020304" pitchFamily="18" charset="0"/>
              </a:rPr>
              <a:t> Features</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81C0DED-FA2F-6387-1AE0-B965B744D4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4440" y="3166289"/>
            <a:ext cx="8610600" cy="3478777"/>
          </a:xfrm>
          <a:prstGeom prst="rect">
            <a:avLst/>
          </a:prstGeom>
        </p:spPr>
      </p:pic>
      <p:sp>
        <p:nvSpPr>
          <p:cNvPr id="9" name="TextBox 8">
            <a:extLst>
              <a:ext uri="{FF2B5EF4-FFF2-40B4-BE49-F238E27FC236}">
                <a16:creationId xmlns:a16="http://schemas.microsoft.com/office/drawing/2014/main" id="{F5B95AFA-A366-87D4-E8A3-F21E39F1AC62}"/>
              </a:ext>
            </a:extLst>
          </p:cNvPr>
          <p:cNvSpPr txBox="1"/>
          <p:nvPr/>
        </p:nvSpPr>
        <p:spPr>
          <a:xfrm>
            <a:off x="1234440" y="1965960"/>
            <a:ext cx="9204960" cy="1200329"/>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The Power BI dashboard provides an interactive view of the retail business performance. It brings together sales, customer, product, store, staff, and inventory insights in a single dashboard.t</a:t>
            </a:r>
          </a:p>
        </p:txBody>
      </p:sp>
    </p:spTree>
    <p:extLst>
      <p:ext uri="{BB962C8B-B14F-4D97-AF65-F5344CB8AC3E}">
        <p14:creationId xmlns:p14="http://schemas.microsoft.com/office/powerpoint/2010/main" val="46213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DF2CA-A43A-866D-4037-767269856131}"/>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45583F64-FFE8-AD65-115B-F194836C891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715" y="280520"/>
            <a:ext cx="11110569" cy="6296959"/>
          </a:xfrm>
          <a:prstGeom prst="rect">
            <a:avLst/>
          </a:prstGeom>
        </p:spPr>
      </p:pic>
    </p:spTree>
    <p:extLst>
      <p:ext uri="{BB962C8B-B14F-4D97-AF65-F5344CB8AC3E}">
        <p14:creationId xmlns:p14="http://schemas.microsoft.com/office/powerpoint/2010/main" val="3642325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43B15-A31B-CC37-936A-37572FA05AAA}"/>
              </a:ext>
            </a:extLst>
          </p:cNvPr>
          <p:cNvSpPr>
            <a:spLocks noGrp="1"/>
          </p:cNvSpPr>
          <p:nvPr>
            <p:ph type="title"/>
          </p:nvPr>
        </p:nvSpPr>
        <p:spPr>
          <a:xfrm>
            <a:off x="301752" y="259080"/>
            <a:ext cx="11604046" cy="1036320"/>
          </a:xfrm>
        </p:spPr>
        <p:txBody>
          <a:bodyPr/>
          <a:lstStyle/>
          <a:p>
            <a:pPr algn="ctr"/>
            <a:r>
              <a:rPr lang="en-IN" dirty="0">
                <a:latin typeface="Algerian" panose="04020705040A02060702" pitchFamily="82" charset="0"/>
              </a:rPr>
              <a:t>KEY FINDINGS</a:t>
            </a:r>
          </a:p>
        </p:txBody>
      </p:sp>
      <p:sp>
        <p:nvSpPr>
          <p:cNvPr id="3" name="Content Placeholder 2">
            <a:extLst>
              <a:ext uri="{FF2B5EF4-FFF2-40B4-BE49-F238E27FC236}">
                <a16:creationId xmlns:a16="http://schemas.microsoft.com/office/drawing/2014/main" id="{EF2B61CD-C8EF-7787-576E-666453A47278}"/>
              </a:ext>
            </a:extLst>
          </p:cNvPr>
          <p:cNvSpPr>
            <a:spLocks noGrp="1"/>
          </p:cNvSpPr>
          <p:nvPr>
            <p:ph idx="1"/>
          </p:nvPr>
        </p:nvSpPr>
        <p:spPr>
          <a:xfrm>
            <a:off x="301752" y="1691640"/>
            <a:ext cx="11604046" cy="4590287"/>
          </a:xfrm>
        </p:spPr>
        <p:txBody>
          <a:bodyPr>
            <a:noAutofit/>
          </a:bodyPr>
          <a:lstStyle/>
          <a:p>
            <a:pPr marL="342900" lvl="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Revenue Performance:</a:t>
            </a:r>
            <a:r>
              <a:rPr lang="en-IN" sz="2400" dirty="0">
                <a:latin typeface="Times New Roman" panose="02020603050405020304" pitchFamily="18" charset="0"/>
                <a:cs typeface="Times New Roman" panose="02020603050405020304" pitchFamily="18" charset="0"/>
              </a:rPr>
              <a:t> Overall revenue and sales performance were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to understand business growth. </a:t>
            </a:r>
          </a:p>
          <a:p>
            <a:pPr marL="342900" lvl="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Sales Trends:</a:t>
            </a:r>
            <a:r>
              <a:rPr lang="en-IN" sz="2400" dirty="0">
                <a:latin typeface="Times New Roman" panose="02020603050405020304" pitchFamily="18" charset="0"/>
                <a:cs typeface="Times New Roman" panose="02020603050405020304" pitchFamily="18" charset="0"/>
              </a:rPr>
              <a:t> Monthly and time-based analysis revealed variations in sales performance. </a:t>
            </a:r>
          </a:p>
          <a:p>
            <a:pPr marL="342900" lvl="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Product Performance:</a:t>
            </a:r>
            <a:r>
              <a:rPr lang="en-IN" sz="2400" dirty="0">
                <a:latin typeface="Times New Roman" panose="02020603050405020304" pitchFamily="18" charset="0"/>
                <a:cs typeface="Times New Roman" panose="02020603050405020304" pitchFamily="18" charset="0"/>
              </a:rPr>
              <a:t> Top-selling products were identified based on sales and revenue. </a:t>
            </a:r>
          </a:p>
          <a:p>
            <a:pPr marL="342900" lvl="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Category Insights:</a:t>
            </a:r>
            <a:r>
              <a:rPr lang="en-IN" sz="2400" dirty="0">
                <a:latin typeface="Times New Roman" panose="02020603050405020304" pitchFamily="18" charset="0"/>
                <a:cs typeface="Times New Roman" panose="02020603050405020304" pitchFamily="18" charset="0"/>
              </a:rPr>
              <a:t> Different product categories were compared to understand their contribution to revenue. </a:t>
            </a:r>
          </a:p>
          <a:p>
            <a:pPr marL="342900" lvl="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Customer Insights:</a:t>
            </a:r>
            <a:r>
              <a:rPr lang="en-IN" sz="2400" dirty="0">
                <a:latin typeface="Times New Roman" panose="02020603050405020304" pitchFamily="18" charset="0"/>
                <a:cs typeface="Times New Roman" panose="02020603050405020304" pitchFamily="18" charset="0"/>
              </a:rPr>
              <a:t> Customer purchasing patterns and spending behaviour were analysed. </a:t>
            </a:r>
          </a:p>
          <a:p>
            <a:pPr marL="342900" lvl="0" indent="-342900">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Customer Segmentation:</a:t>
            </a:r>
            <a:r>
              <a:rPr lang="en-IN" sz="2400" dirty="0">
                <a:latin typeface="Times New Roman" panose="02020603050405020304" pitchFamily="18" charset="0"/>
                <a:cs typeface="Times New Roman" panose="02020603050405020304" pitchFamily="18" charset="0"/>
              </a:rPr>
              <a:t> Customers were grouped into segments based on their purchasing behaviour and value.</a:t>
            </a:r>
          </a:p>
          <a:p>
            <a:pPr marL="342900" indent="-34290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938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C218-2815-05E6-7D99-600CCBEE4E08}"/>
              </a:ext>
            </a:extLst>
          </p:cNvPr>
          <p:cNvSpPr>
            <a:spLocks noGrp="1"/>
          </p:cNvSpPr>
          <p:nvPr>
            <p:ph type="title"/>
          </p:nvPr>
        </p:nvSpPr>
        <p:spPr/>
        <p:txBody>
          <a:bodyPr>
            <a:normAutofit/>
          </a:bodyPr>
          <a:lstStyle/>
          <a:p>
            <a:pPr algn="ctr"/>
            <a:r>
              <a:rPr lang="en-IN" sz="4400" dirty="0">
                <a:latin typeface="Algerian" panose="04020705040A02060702" pitchFamily="82"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33ED601-7FE5-089F-3C63-7B20254F0CAD}"/>
              </a:ext>
            </a:extLst>
          </p:cNvPr>
          <p:cNvSpPr>
            <a:spLocks noGrp="1"/>
          </p:cNvSpPr>
          <p:nvPr>
            <p:ph idx="1"/>
          </p:nvPr>
        </p:nvSpPr>
        <p:spPr/>
        <p:txBody>
          <a:bodyPr>
            <a:normAutofit/>
          </a:bodyPr>
          <a:lstStyle/>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Retail Revenue Analysis</a:t>
            </a:r>
            <a:r>
              <a:rPr lang="en-IN" sz="2400" dirty="0">
                <a:latin typeface="Times New Roman" panose="02020603050405020304" pitchFamily="18" charset="0"/>
                <a:cs typeface="Times New Roman" panose="02020603050405020304" pitchFamily="18" charset="0"/>
              </a:rPr>
              <a:t> project successfully transformed raw retail data into meaningful business insights using </a:t>
            </a:r>
            <a:r>
              <a:rPr lang="en-IN" sz="2400" b="1" dirty="0">
                <a:latin typeface="Times New Roman" panose="02020603050405020304" pitchFamily="18" charset="0"/>
                <a:cs typeface="Times New Roman" panose="02020603050405020304" pitchFamily="18" charset="0"/>
              </a:rPr>
              <a:t>Excel, SQL, Python, and Power</a:t>
            </a:r>
          </a:p>
          <a:p>
            <a:pPr marL="34290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Overall, the project demonstrates how data analytics can transform complex retail data into clear and actionable business insights, helping the business understand performance and support data-driven decision-making.”</a:t>
            </a:r>
          </a:p>
        </p:txBody>
      </p:sp>
    </p:spTree>
    <p:extLst>
      <p:ext uri="{BB962C8B-B14F-4D97-AF65-F5344CB8AC3E}">
        <p14:creationId xmlns:p14="http://schemas.microsoft.com/office/powerpoint/2010/main" val="3511889905"/>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Dark Gradient</Template>
  <TotalTime>60</TotalTime>
  <Words>609</Words>
  <Application>Microsoft Office PowerPoint</Application>
  <PresentationFormat>Widescreen</PresentationFormat>
  <Paragraphs>90</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Algerian</vt:lpstr>
      <vt:lpstr>Aptos</vt:lpstr>
      <vt:lpstr>Arial</vt:lpstr>
      <vt:lpstr>Arial Nova Light</vt:lpstr>
      <vt:lpstr>Calibri</vt:lpstr>
      <vt:lpstr>Times New Roman</vt:lpstr>
      <vt:lpstr>Wingdings</vt:lpstr>
      <vt:lpstr>Dark Gradient</vt:lpstr>
      <vt:lpstr>RETAIL REVENUE ANALYSIS Data-Driven Insights for Smarter Retail Decisions </vt:lpstr>
      <vt:lpstr>INTRODUCTION </vt:lpstr>
      <vt:lpstr>Project Objectives </vt:lpstr>
      <vt:lpstr>PROBLEM STATEMENT</vt:lpstr>
      <vt:lpstr>TOOLS &amp; TECHNOLOGIES </vt:lpstr>
      <vt:lpstr>EXCEL – DATA PREPARATION &amp; ANALYSIS </vt:lpstr>
      <vt:lpstr>SQL ANALYSIS</vt:lpstr>
      <vt:lpstr>PYTHON DATA ANALYSIS </vt:lpstr>
      <vt:lpstr>POWER BI DASHBOARD Dashboard Features </vt:lpstr>
      <vt:lpstr>PowerPoint Presentation</vt:lpstr>
      <vt:lpstr>KEY FINDINGS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thirisha r</dc:creator>
  <cp:lastModifiedBy>thirisha r</cp:lastModifiedBy>
  <cp:revision>1</cp:revision>
  <dcterms:created xsi:type="dcterms:W3CDTF">2026-09-18T20:22:17Z</dcterms:created>
  <dcterms:modified xsi:type="dcterms:W3CDTF">2026-09-19T09:09:54Z</dcterms:modified>
</cp:coreProperties>
</file>